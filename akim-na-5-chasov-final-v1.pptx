
<file path=[Content_Types].xml><?xml version="1.0" encoding="utf-8"?>
<Types xmlns="http://schemas.openxmlformats.org/package/2006/content-types">
  <Default Extension="xlsx" ContentType="application/vnd.openxmlformats-officedocument.spreadsheetml.sheet"/>
  <Default Extension="jpeg" ContentType="image/jpeg"/>
  <Default Extension="JPG" ContentType="image/.jp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harts/chart1.xml" ContentType="application/vnd.openxmlformats-officedocument.drawingml.chart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4"/>
  </p:notesMasterIdLst>
  <p:sldIdLst>
    <p:sldId id="256" r:id="rId3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</p:sldIdLst>
  <p:sldSz cx="12192000" cy="6858000"/>
  <p:notesSz cx="68580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6" Type="http://schemas.openxmlformats.org/officeDocument/2006/relationships/tableStyles" Target="tableStyles.xml"/><Relationship Id="rId15" Type="http://schemas.openxmlformats.org/officeDocument/2006/relationships/viewProps" Target="viewProps.xml"/><Relationship Id="rId14" Type="http://schemas.openxmlformats.org/officeDocument/2006/relationships/presProps" Target="presProps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Workbook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barChart>
        <c:barDir val="bar"/>
        <c:grouping val="clustered"/>
        <c:varyColors val="1"/>
        <c:ser>
          <c:idx val="0"/>
          <c:order val="0"/>
          <c:tx>
            <c:strRef>
              <c:f>Средняя дельта</c:f>
              <c:strCache>
                <c:ptCount val="1"/>
                <c:pt idx="0">
                  <c:v>Средняя дельта</c:v>
                </c:pt>
              </c:strCache>
            </c:strRef>
          </c:tx>
          <c:spPr>
            <a:solidFill>
              <a:srgbClr val="7BDCB5"/>
            </a:solidFill>
          </c:spPr>
          <c:invertIfNegative val="0"/>
          <c:dPt>
            <c:idx val="0"/>
            <c:invertIfNegative val="0"/>
            <c:bubble3D val="0"/>
            <c:spPr>
              <a:solidFill>
                <a:srgbClr val="3478F6"/>
              </a:solidFill>
            </c:spPr>
          </c:dPt>
          <c:dPt>
            <c:idx val="1"/>
            <c:invertIfNegative val="0"/>
            <c:bubble3D val="0"/>
            <c:spPr>
              <a:solidFill>
                <a:srgbClr val="7BDCB5"/>
              </a:solidFill>
            </c:spPr>
          </c:dPt>
          <c:dPt>
            <c:idx val="2"/>
            <c:invertIfNegative val="0"/>
            <c:bubble3D val="0"/>
            <c:spPr>
              <a:solidFill>
                <a:srgbClr val="8B5CF6"/>
              </a:solidFill>
            </c:spPr>
          </c:dPt>
          <c:dPt>
            <c:idx val="3"/>
            <c:invertIfNegative val="0"/>
            <c:bubble3D val="0"/>
            <c:spPr>
              <a:solidFill>
                <a:srgbClr val="F3B35A"/>
              </a:solidFill>
            </c:spPr>
          </c:dPt>
          <c:dPt>
            <c:idx val="4"/>
            <c:invertIfNegative val="0"/>
            <c:bubble3D val="0"/>
            <c:spPr>
              <a:solidFill>
                <a:srgbClr val="D85273"/>
              </a:solidFill>
            </c:spPr>
          </c:dPt>
          <c:dLbls>
            <c:numFmt formatCode="&quot;О&quot;&quot;с&quot;&quot;н&quot;&quot;о&quot;&quot;в&quot;&quot;н&quot;&quot;о&quot;&quot;й&quot;" sourceLinked="1"/>
            <c:spPr>
              <a:noFill/>
              <a:ln>
                <a:noFill/>
              </a:ln>
              <a:effectLst/>
            </c:spPr>
            <c:txPr>
              <a:bodyPr rot="0" spcFirstLastPara="0" vertOverflow="ellipsis" vert="horz" wrap="square" lIns="38100" tIns="19050" rIns="38100" bIns="19050" anchor="ctr" anchorCtr="1"/>
              <a:lstStyle/>
              <a:p>
                <a:pPr>
                  <a:defRPr lang="ru-RU" sz="1000" b="0" i="0" u="none" strike="noStrike" kern="1200" baseline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pPr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0"/>
                <c15:leaderLines/>
              </c:ext>
            </c:extLst>
          </c:dLbls>
          <c:cat>
            <c:strRef>
              <c:f>'Chart Data'!$A$2:$A$6</c:f>
              <c:strCache>
                <c:ptCount val="5"/>
                <c:pt idx="0" c:formatCode="&quot;О&quot;&quot;с&quot;&quot;н&quot;&quot;о&quot;&quot;в&quot;&quot;н&quot;&quot;о&quot;&quot;й&quot;">
                  <c:v>Транспорт</c:v>
                </c:pt>
                <c:pt idx="1" c:formatCode="&quot;О&quot;&quot;с&quot;&quot;н&quot;&quot;о&quot;&quot;в&quot;&quot;н&quot;&quot;о&quot;&quot;й&quot;">
                  <c:v>Экология</c:v>
                </c:pt>
                <c:pt idx="2" c:formatCode="&quot;О&quot;&quot;с&quot;&quot;н&quot;&quot;о&quot;&quot;в&quot;&quot;н&quot;&quot;о&quot;&quot;й&quot;">
                  <c:v>Соцсфера</c:v>
                </c:pt>
                <c:pt idx="3" c:formatCode="&quot;О&quot;&quot;с&quot;&quot;н&quot;&quot;о&quot;&quot;в&quot;&quot;н&quot;&quot;о&quot;&quot;й&quot;">
                  <c:v>Безопасность</c:v>
                </c:pt>
                <c:pt idx="4" c:formatCode="&quot;О&quot;&quot;с&quot;&quot;н&quot;&quot;о&quot;&quot;в&quot;&quot;н&quot;&quot;о&quot;&quot;й&quot;">
                  <c:v>Сервисы</c:v>
                </c:pt>
              </c:strCache>
            </c:strRef>
          </c:cat>
          <c:val>
            <c:numRef>
              <c:f>'Chart Data'!$B$2:$B$6</c:f>
              <c:numCache>
                <c:formatCode>"О""с""н""о""в""н""о""й"</c:formatCode>
                <c:ptCount val="5"/>
                <c:pt idx="0">
                  <c:v>8</c:v>
                </c:pt>
                <c:pt idx="1">
                  <c:v>9</c:v>
                </c:pt>
                <c:pt idx="2">
                  <c:v>9</c:v>
                </c:pt>
                <c:pt idx="3">
                  <c:v>12</c:v>
                </c:pt>
                <c:pt idx="4">
                  <c:v>17</c:v>
                </c:pt>
              </c:numCache>
            </c:numRef>
          </c:val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54"/>
        <c:axId val="48650112"/>
        <c:axId val="48672768"/>
      </c:barChart>
      <c:catAx>
        <c:axId val="48650112"/>
        <c:scaling>
          <c:orientation val="minMax"/>
        </c:scaling>
        <c:delete val="0"/>
        <c:axPos val="l"/>
        <c:numFmt formatCode="&quot;О&quot;&quot;с&quot;&quot;н&quot;&quot;о&quot;&quot;в&quot;&quot;н&quot;&quot;о&quot;&quot;й&quot;" sourceLinked="1"/>
        <c:majorTickMark val="none"/>
        <c:minorTickMark val="none"/>
        <c:tickLblPos val="nextTo"/>
        <c:spPr>
          <a:ln w="9525">
            <a:solidFill>
              <a:srgbClr val="D4D4D4"/>
            </a:solidFill>
            <a:prstDash val="solid"/>
            <a:round/>
          </a:ln>
        </c:spPr>
        <c:txPr>
          <a:bodyPr rot="-60000000" spcFirstLastPara="0" vertOverflow="ellipsis" vert="horz" wrap="square" anchor="ctr" anchorCtr="1"/>
          <a:lstStyle/>
          <a:p>
            <a:pPr>
              <a:defRPr lang="ru-RU" sz="1000" b="0" i="0" u="none" strike="noStrike" kern="1200" baseline="0">
                <a:solidFill>
                  <a:srgbClr val="666666"/>
                </a:solidFill>
                <a:latin typeface="Aptos"/>
                <a:ea typeface="Aptos"/>
                <a:cs typeface="Aptos"/>
              </a:defRPr>
            </a:pPr>
          </a:p>
        </c:txPr>
        <c:crossAx val="48672768"/>
        <c:crosses val="autoZero"/>
        <c:auto val="1"/>
        <c:lblAlgn val="ctr"/>
        <c:lblOffset val="100"/>
        <c:noMultiLvlLbl val="0"/>
      </c:catAx>
      <c:valAx>
        <c:axId val="48672768"/>
        <c:scaling>
          <c:orientation val="minMax"/>
        </c:scaling>
        <c:delete val="0"/>
        <c:axPos val="b"/>
        <c:numFmt formatCode="&quot;О&quot;&quot;с&quot;&quot;н&quot;&quot;о&quot;&quot;в&quot;&quot;н&quot;&quot;о&quot;&quot;й&quot;" sourceLinked="1"/>
        <c:majorTickMark val="none"/>
        <c:minorTickMark val="none"/>
        <c:tickLblPos val="nextTo"/>
        <c:spPr>
          <a:ln w="0">
            <a:noFill/>
            <a:prstDash val="solid"/>
            <a:round/>
          </a:ln>
        </c:spPr>
        <c:txPr>
          <a:bodyPr rot="-60000000" spcFirstLastPara="0" vertOverflow="ellipsis" vert="horz" wrap="square" anchor="ctr" anchorCtr="1"/>
          <a:lstStyle/>
          <a:p>
            <a:pPr>
              <a:defRPr lang="ru-RU" sz="1350" b="1" i="0" u="none" strike="noStrike" kern="1200" baseline="0">
                <a:solidFill>
                  <a:srgbClr val="173027"/>
                </a:solidFill>
                <a:latin typeface="Aptos"/>
                <a:ea typeface="Aptos"/>
                <a:cs typeface="Aptos"/>
              </a:defRPr>
            </a:pPr>
          </a:p>
        </c:txPr>
        <c:crossAx val="48650112"/>
        <c:crosses val="autoZero"/>
        <c:crossBetween val="between"/>
      </c:valAx>
      <c:spPr>
        <a:solidFill>
          <a:srgbClr val="000000">
            <a:alpha val="0"/>
          </a:srgbClr>
        </a:solidFill>
        <a:ln w="0">
          <a:noFill/>
        </a:ln>
      </c:spPr>
    </c:plotArea>
    <c:plotVisOnly val="1"/>
    <c:dispBlanksAs val="gap"/>
    <c:showDLblsOverMax val="0"/>
    <c:extLst>
      <c:ext uri="{0b15fc19-7d7d-44ad-8c2d-2c3a37ce22c3}">
        <chartProps xmlns="https://web.wps.cn/et/2018/main" chartId="{bf92452b-85ff-4a76-88f9-34ea0ec3b22f}"/>
      </c:ext>
    </c:extLst>
  </c:chart>
  <c:spPr>
    <a:solidFill>
      <a:srgbClr val="000000">
        <a:alpha val="0"/>
      </a:srgbClr>
    </a:solidFill>
    <a:ln w="0">
      <a:noFill/>
    </a:ln>
  </c:spPr>
  <c:txPr>
    <a:bodyPr/>
    <a:lstStyle/>
    <a:p>
      <a:pPr>
        <a:defRPr lang="ru-RU"/>
      </a:pPr>
    </a:p>
  </c:tx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/>
      <p:sp>
        <p:nvSpPr>
          <p:cNvPr id="2" name="Header Placeholder"/>
          <p:cNvSpPr/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Открытие, 15 секунд. Мы построили симулятор, который превращает сложный городской выбор в проверяемый сценарий. Пользователь получает не красивый отчёт после решения, а инструмент для сравнения решений до запуска.</a:t>
            </a:r>
          </a:p>
          <a:p/>
          <a:p>
            <a:r>
              <a:t>Источники:</a:t>
            </a:r>
          </a:p>
          <a:p>
            <a:r>
              <a:t>- Фото: https://e-history.kz/ru/news/show/4669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Проблема, 25 секунд. Не перечисляйте функции. Сформулируйте конфликт: ограниченный бюджет и неодинаковый эффект по районам. Затем скажите, что продукт делает решение сравнимым до внедрения.</a:t>
            </a:r>
          </a:p>
          <a:p/>
          <a:p>
            <a:r>
              <a:t>Источники:</a:t>
            </a:r>
          </a:p>
          <a:p>
            <a:r>
              <a:t>- Источник продукта: README.md и src/data.ts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Демо, 35 секунд. Покажите три колонки продукта. Слева команда выбирает меры. В центре сразу видит прогноз и районную разницу. Справа AI объясняет сильные стороны, риски и следующий шаг. Это реальный скриншот работающего приложения.</a:t>
            </a:r>
          </a:p>
          <a:p/>
          <a:p>
            <a:r>
              <a:t>Источники:</a:t>
            </a:r>
          </a:p>
          <a:p>
            <a:r>
              <a:t>- Скриншот локального прототипа из текущего репозитория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Результат, 30 секунд. В сбалансированном сценарии пять мер стоят 78 из 100 единиц. Предварительная модель повышает городской индекс с 59 до 70. Самый большой средний прирост дают сервисы, затем безопасность. Обязательно скажите, что это синтетический датасет и демонстрационная модель, а не официальный прогноз.</a:t>
            </a:r>
          </a:p>
          <a:p/>
          <a:p>
            <a:r>
              <a:t>Источники:</a:t>
            </a:r>
          </a:p>
          <a:p>
            <a:r>
              <a:t>- src/data.ts</a:t>
            </a:r>
          </a:p>
          <a:p>
            <a:r>
              <a:t>- src/lib/simulation.ts</a:t>
            </a:r>
          </a:p>
          <a:p>
            <a:r>
              <a:t>- src/services/analysisStream.ts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Методика, 35 секунд. Это главный слайд доверия. Дельта зависит от эффекта меры, охвата и чувствительности конкретного района. Затем мы добавляем её к исходному значению и ограничиваем шкалу диапазоном от 0 до 100. LLM не является источником чисел.</a:t>
            </a:r>
          </a:p>
          <a:p/>
          <a:p>
            <a:r>
              <a:t>Источники:</a:t>
            </a:r>
          </a:p>
          <a:p>
            <a:r>
              <a:t>- src/lib/simulation.ts</a:t>
            </a:r>
          </a:p>
          <a:p>
            <a:r>
              <a:t>- README.md, раздел «Логика визуализации»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Технологии, 35 секунд. Не утверждайте, что внешние модели уже вызываются в демо. Сейчас интерфейс и транспортный контракт готовы, а локальный адаптер делает сценарий воспроизводимым без ключей. В production OpenAI даёт streaming и структурированный JSON по схеме. NVIDIA NIM предоставляет OpenAI-совместимый API и вариант развёртывания модели в контролируемой инфраструктуре.</a:t>
            </a:r>
          </a:p>
          <a:p/>
          <a:p>
            <a:r>
              <a:t>Источники:</a:t>
            </a:r>
          </a:p>
          <a:p>
            <a:r>
              <a:t>- https://developers.openai.com/api/docs/guides/streaming-responses</a:t>
            </a:r>
          </a:p>
          <a:p>
            <a:r>
              <a:t>- https://developers.openai.com/api/docs/guides/structured-outputs</a:t>
            </a:r>
          </a:p>
          <a:p>
            <a:r>
              <a:t>- https://docs.nvidia.com/nim/large-language-models/latest/api-reference.html</a:t>
            </a:r>
          </a:p>
          <a:p>
            <a:r>
              <a:t>- README.md, разделы AI streaming и Backend boundary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Контекст страны, 35 секунд. Свяжите проект с уже начавшимися изменениями. Astana Smart City объединяет городские системы в реальном времени. Digital Qazaqstan закрепляет уровни от инфраструктуры и данных до прикладных AI-сервисов. Наш симулятор находится именно на прикладном уровне: он помогает принимать и объяснять решения.</a:t>
            </a:r>
          </a:p>
          <a:p/>
          <a:p>
            <a:r>
              <a:t>Источники:</a:t>
            </a:r>
          </a:p>
          <a:p>
            <a:r>
              <a:t>- https://www.gov.kz/memleket/entities/mfa-brussels/press/news/details/1208785?lang=en</a:t>
            </a:r>
          </a:p>
          <a:p>
            <a:r>
              <a:t>- https://www.gov.kz/memleket/entities/maidd/press/news/details/1238140?lang=ru</a:t>
            </a:r>
          </a:p>
          <a:p>
            <a:r>
              <a:t>- https://www.gov.kz/memleket/entities/mti-ktrm/press/news/details/1091791?lang=en</a:t>
            </a:r>
          </a:p>
          <a:p>
            <a:r>
              <a:t>- https://mirror.akorda.kz/ru/vystuplenie-prezidenta-kasym-zhomarta-tokaeva-na-zasedanii-neformalnogo-sammita-otg-154361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Отстройка, 30 секунд. Три доказательства: ограничения нельзя обойти, районные эффекты показаны на единой шкале, AI не создаёт цифры. Добавьте, что интерфейс уже адаптирован для клавиатуры, мобильных устройств и reduced motion.</a:t>
            </a:r>
          </a:p>
          <a:p/>
          <a:p>
            <a:r>
              <a:t>Источники:</a:t>
            </a:r>
          </a:p>
          <a:p>
            <a:r>
              <a:t>- README.md, разделы «Что реализовано», «Правила корзины и бюджета» и «Логика визуализации»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Пилот, 30 секунд. За первые 30 дней подключаем и описываем данные. Затем калибруем модель на исторических сценариях вместе с владельцами показателей. В последний месяц проводим управленческую сессию и аудит. Метрики пилота измеряют скорость, прозрачность и точность после калибровки, а не обещают заранее экономический эффект.</a:t>
            </a:r>
          </a:p>
          <a:p/>
          <a:p>
            <a:r>
              <a:t>Источники:</a:t>
            </a:r>
          </a:p>
          <a:p>
            <a:r>
              <a:t>- README.md, раздел Backend boundary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Финал, 15 секунд. Закончите конкретной просьбой: доступ к одному реальному сценарию и владельцу данных для 90-дневного пилота. Затем остановитесь и переходите к вопросам.</a:t>
            </a:r>
          </a:p>
          <a:p/>
          <a:p>
            <a:r>
              <a:t>Источники:</a:t>
            </a:r>
          </a:p>
          <a:p>
            <a:r>
              <a:t>- Скриншот встроенной карусели питча из текущего прототипа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/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/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jpe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2.jpe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.xml"/><Relationship Id="rId2" Type="http://schemas.openxmlformats.org/officeDocument/2006/relationships/slideLayout" Target="../slideLayouts/slideLayout1.xml"/><Relationship Id="rId1" Type="http://schemas.openxmlformats.org/officeDocument/2006/relationships/chart" Target="../charts/char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7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jpe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0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3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C2019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10" name="Изображение 9"/>
          <p:cNvPicPr>
            <a:picLocks noChangeAspect="1"/>
          </p:cNvPicPr>
          <p:nvPr/>
        </p:nvPicPr>
        <p:blipFill>
          <a:blip r:embed="rId1"/>
          <a:srcRect l="2000" t="2000" b="8000"/>
          <a:stretch>
            <a:fillRect/>
          </a:stretch>
        </p:blipFill>
        <p:spPr>
          <a:xfrm>
            <a:off x="5857875" y="0"/>
            <a:ext cx="6334125" cy="6858000"/>
          </a:xfrm>
          <a:prstGeom prst="rect">
            <a:avLst/>
          </a:prstGeom>
        </p:spPr>
      </p:pic>
      <p:sp>
        <p:nvSpPr>
          <p:cNvPr id="2" name="Прямоугольник 1"/>
          <p:cNvSpPr>
            <a:spLocks noGrp="1"/>
          </p:cNvSpPr>
          <p:nvPr/>
        </p:nvSpPr>
        <p:spPr>
          <a:xfrm>
            <a:off x="4762500" y="0"/>
            <a:ext cx="7429500" cy="6858000"/>
          </a:xfrm>
          <a:prstGeom prst="rect">
            <a:avLst/>
          </a:prstGeom>
          <a:gradFill>
            <a:gsLst>
              <a:gs pos="0">
                <a:srgbClr val="0C2019"/>
              </a:gs>
              <a:gs pos="40000">
                <a:srgbClr val="0C2019">
                  <a:alpha val="62000"/>
                </a:srgbClr>
              </a:gs>
              <a:gs pos="100000">
                <a:srgbClr val="0C2019">
                  <a:alpha val="18000"/>
                </a:srgbClr>
              </a:gs>
            </a:gsLst>
            <a:lin ang="5400000"/>
          </a:gradFill>
          <a:ln w="0">
            <a:noFill/>
          </a:ln>
        </p:spPr>
      </p:sp>
      <p:sp>
        <p:nvSpPr>
          <p:cNvPr id="3" name="Скругленный прямоугольник 2"/>
          <p:cNvSpPr>
            <a:spLocks noGrp="1"/>
          </p:cNvSpPr>
          <p:nvPr/>
        </p:nvSpPr>
        <p:spPr>
          <a:xfrm>
            <a:off x="628650" y="533400"/>
            <a:ext cx="457200" cy="457200"/>
          </a:xfrm>
          <a:prstGeom prst="roundRect">
            <a:avLst>
              <a:gd name="adj" fmla="val 16667"/>
            </a:avLst>
          </a:prstGeom>
          <a:solidFill>
            <a:srgbClr val="D9F879"/>
          </a:solidFill>
          <a:ln w="0">
            <a:noFill/>
          </a:ln>
        </p:spPr>
      </p:sp>
      <p:sp>
        <p:nvSpPr>
          <p:cNvPr id="4" name="Прямоугольник 3"/>
          <p:cNvSpPr>
            <a:spLocks noGrp="1"/>
          </p:cNvSpPr>
          <p:nvPr/>
        </p:nvSpPr>
        <p:spPr>
          <a:xfrm>
            <a:off x="628650" y="628650"/>
            <a:ext cx="457200" cy="2667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 algn="ctr">
              <a:defRPr sz="1500" b="1">
                <a:solidFill>
                  <a:srgbClr val="0C2019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0C2019"/>
                </a:solidFill>
                <a:latin typeface="Aptos"/>
                <a:ea typeface="Aptos"/>
                <a:cs typeface="Aptos"/>
              </a:rPr>
              <a:t>A5</a:t>
            </a:r>
            <a:endParaRPr sz="1500" b="1">
              <a:solidFill>
                <a:srgbClr val="0C2019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5" name="Прямоугольник 4"/>
          <p:cNvSpPr>
            <a:spLocks noGrp="1"/>
          </p:cNvSpPr>
          <p:nvPr/>
        </p:nvSpPr>
        <p:spPr>
          <a:xfrm>
            <a:off x="628650" y="1600200"/>
            <a:ext cx="5857875" cy="1524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 algn="l">
              <a:defRPr sz="49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49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Аким на 5 часов</a:t>
            </a:r>
            <a:endParaRPr sz="4950" b="1">
              <a:solidFill>
                <a:srgbClr val="FFFFFF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6" name="Прямоугольник 5"/>
          <p:cNvSpPr>
            <a:spLocks noGrp="1"/>
          </p:cNvSpPr>
          <p:nvPr/>
        </p:nvSpPr>
        <p:spPr>
          <a:xfrm>
            <a:off x="666750" y="3238500"/>
            <a:ext cx="4762500" cy="7048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 algn="l">
              <a:defRPr sz="2025" b="0">
                <a:solidFill>
                  <a:srgbClr val="FFFFFF">
                    <a:alpha val="84000"/>
                  </a:srgbClr>
                </a:solidFill>
                <a:latin typeface="Aptos"/>
                <a:ea typeface="Aptos"/>
                <a:cs typeface="Aptos"/>
              </a:defRPr>
            </a:pPr>
            <a:r>
              <a:rPr sz="2025" b="0">
                <a:solidFill>
                  <a:srgbClr val="FFFFFF">
                    <a:alpha val="84000"/>
                  </a:srgbClr>
                </a:solidFill>
                <a:latin typeface="Aptos"/>
                <a:ea typeface="Aptos"/>
                <a:cs typeface="Aptos"/>
              </a:rPr>
              <a:t>AI-симулятор управленческих решений для Астаны</a:t>
            </a:r>
            <a:endParaRPr sz="2025" b="0">
              <a:solidFill>
                <a:srgbClr val="FFFFFF">
                  <a:alpha val="84000"/>
                </a:srgbClr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7" name="Прямоугольник 6"/>
          <p:cNvSpPr>
            <a:spLocks noGrp="1"/>
          </p:cNvSpPr>
          <p:nvPr/>
        </p:nvSpPr>
        <p:spPr>
          <a:xfrm>
            <a:off x="666750" y="4400550"/>
            <a:ext cx="4000500" cy="19050"/>
          </a:xfrm>
          <a:prstGeom prst="rect">
            <a:avLst/>
          </a:prstGeom>
          <a:solidFill>
            <a:srgbClr val="7BDCB5"/>
          </a:solidFill>
          <a:ln w="0">
            <a:noFill/>
          </a:ln>
        </p:spPr>
      </p:sp>
      <p:sp>
        <p:nvSpPr>
          <p:cNvPr id="8" name="Прямоугольник 7"/>
          <p:cNvSpPr>
            <a:spLocks noGrp="1"/>
          </p:cNvSpPr>
          <p:nvPr/>
        </p:nvSpPr>
        <p:spPr>
          <a:xfrm>
            <a:off x="666750" y="4591050"/>
            <a:ext cx="4429125" cy="6667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 algn="l">
              <a:defRPr sz="1575" b="1">
                <a:solidFill>
                  <a:srgbClr val="D9F879"/>
                </a:solidFill>
                <a:latin typeface="Aptos"/>
                <a:ea typeface="Aptos"/>
                <a:cs typeface="Aptos"/>
              </a:defRPr>
            </a:pPr>
            <a:r>
              <a:rPr sz="1575" b="1">
                <a:solidFill>
                  <a:srgbClr val="D9F879"/>
                </a:solidFill>
                <a:latin typeface="Aptos"/>
                <a:ea typeface="Aptos"/>
                <a:cs typeface="Aptos"/>
              </a:rPr>
              <a:t>5 решений · 5 районов · один ограниченный бюджет</a:t>
            </a:r>
            <a:endParaRPr sz="1575" b="1">
              <a:solidFill>
                <a:srgbClr val="D9F879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9" name="Прямоугольник 8"/>
          <p:cNvSpPr>
            <a:spLocks noGrp="1"/>
          </p:cNvSpPr>
          <p:nvPr/>
        </p:nvSpPr>
        <p:spPr>
          <a:xfrm>
            <a:off x="666750" y="6048375"/>
            <a:ext cx="2857500" cy="2286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 algn="l">
              <a:defRPr sz="1200" b="0">
                <a:solidFill>
                  <a:srgbClr val="FFFFFF">
                    <a:alpha val="70000"/>
                  </a:srgbClr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FFFFFF">
                    <a:alpha val="70000"/>
                  </a:srgbClr>
                </a:solidFill>
                <a:latin typeface="Aptos"/>
                <a:ea typeface="Aptos"/>
                <a:cs typeface="Aptos"/>
              </a:rPr>
              <a:t>Финал хакатона · 2026</a:t>
            </a:r>
            <a:endParaRPr sz="1200" b="0">
              <a:solidFill>
                <a:srgbClr val="FFFFFF">
                  <a:alpha val="70000"/>
                </a:srgbClr>
              </a:solidFill>
              <a:latin typeface="Aptos"/>
              <a:ea typeface="Aptos"/>
              <a:cs typeface="Aptos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7F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12" name="Прямоугольник 11"/>
          <p:cNvSpPr>
            <a:spLocks noGrp="1"/>
          </p:cNvSpPr>
          <p:nvPr/>
        </p:nvSpPr>
        <p:spPr>
          <a:xfrm>
            <a:off x="628650" y="428625"/>
            <a:ext cx="10934700" cy="6096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 algn="l">
              <a:defRPr sz="3150" b="1">
                <a:solidFill>
                  <a:srgbClr val="0C2019"/>
                </a:solidFill>
                <a:latin typeface="Aptos"/>
                <a:ea typeface="Aptos"/>
                <a:cs typeface="Aptos"/>
              </a:defRPr>
            </a:pPr>
            <a:r>
              <a:rPr sz="3150" b="1">
                <a:solidFill>
                  <a:srgbClr val="0C2019"/>
                </a:solidFill>
                <a:latin typeface="Aptos"/>
                <a:ea typeface="Aptos"/>
                <a:cs typeface="Aptos"/>
              </a:rPr>
              <a:t>Городской выбор под реальными ограничениями</a:t>
            </a:r>
            <a:endParaRPr sz="3150" b="1">
              <a:solidFill>
                <a:srgbClr val="0C2019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2" name="Прямоугольник 1"/>
          <p:cNvSpPr>
            <a:spLocks noGrp="1"/>
          </p:cNvSpPr>
          <p:nvPr/>
        </p:nvSpPr>
        <p:spPr>
          <a:xfrm>
            <a:off x="647700" y="1257300"/>
            <a:ext cx="6858000" cy="9906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 algn="l">
              <a:defRPr sz="2175" b="0">
                <a:solidFill>
                  <a:srgbClr val="173027"/>
                </a:solidFill>
                <a:latin typeface="Aptos"/>
                <a:ea typeface="Aptos"/>
                <a:cs typeface="Aptos"/>
              </a:defRPr>
            </a:pPr>
            <a:r>
              <a:rPr sz="2175" b="0">
                <a:solidFill>
                  <a:srgbClr val="173027"/>
                </a:solidFill>
                <a:latin typeface="Aptos"/>
                <a:ea typeface="Aptos"/>
                <a:cs typeface="Aptos"/>
              </a:rPr>
              <a:t>Акимат должен выбирать между полезными мерами, когда бюджет ограничен, данные неоднородны, а эффект распределяется по районам неравномерно.</a:t>
            </a:r>
            <a:endParaRPr sz="2175" b="0">
              <a:solidFill>
                <a:srgbClr val="173027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3" name="Прямоугольник 2"/>
          <p:cNvSpPr>
            <a:spLocks noGrp="1"/>
          </p:cNvSpPr>
          <p:nvPr/>
        </p:nvSpPr>
        <p:spPr>
          <a:xfrm>
            <a:off x="647700" y="2724150"/>
            <a:ext cx="1762125" cy="3238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 algn="l">
              <a:defRPr sz="1500" b="1">
                <a:solidFill>
                  <a:srgbClr val="D85273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D85273"/>
                </a:solidFill>
                <a:latin typeface="Aptos"/>
                <a:ea typeface="Aptos"/>
                <a:cs typeface="Aptos"/>
              </a:rPr>
              <a:t>Сегодня</a:t>
            </a:r>
            <a:endParaRPr sz="1500" b="1">
              <a:solidFill>
                <a:srgbClr val="D85273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4" name="Прямоугольник 3"/>
          <p:cNvSpPr>
            <a:spLocks noGrp="1"/>
          </p:cNvSpPr>
          <p:nvPr/>
        </p:nvSpPr>
        <p:spPr>
          <a:xfrm>
            <a:off x="647700" y="3105150"/>
            <a:ext cx="4000500" cy="1143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 algn="l">
              <a:defRPr sz="1800" b="0">
                <a:solidFill>
                  <a:srgbClr val="173027"/>
                </a:solidFill>
                <a:latin typeface="Aptos"/>
                <a:ea typeface="Aptos"/>
                <a:cs typeface="Aptos"/>
              </a:defRPr>
            </a:pPr>
            <a:r>
              <a:rPr sz="1800" b="0">
                <a:solidFill>
                  <a:srgbClr val="173027"/>
                </a:solidFill>
                <a:latin typeface="Aptos"/>
                <a:ea typeface="Aptos"/>
                <a:cs typeface="Aptos"/>
              </a:rPr>
              <a:t>Решения обсуждают по отдельности. Сравнение компромиссов остаётся в таблицах и презентациях.</a:t>
            </a:r>
            <a:endParaRPr sz="1800" b="0">
              <a:solidFill>
                <a:srgbClr val="173027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5" name="Прямоугольник 4"/>
          <p:cNvSpPr>
            <a:spLocks noGrp="1"/>
          </p:cNvSpPr>
          <p:nvPr/>
        </p:nvSpPr>
        <p:spPr>
          <a:xfrm>
            <a:off x="5048250" y="1295400"/>
            <a:ext cx="19050" cy="4095750"/>
          </a:xfrm>
          <a:prstGeom prst="rect">
            <a:avLst/>
          </a:prstGeom>
          <a:solidFill>
            <a:srgbClr val="0C2019">
              <a:alpha val="14000"/>
            </a:srgbClr>
          </a:solidFill>
          <a:ln w="0">
            <a:noFill/>
          </a:ln>
        </p:spPr>
      </p:sp>
      <p:sp>
        <p:nvSpPr>
          <p:cNvPr id="6" name="Прямоугольник 5"/>
          <p:cNvSpPr>
            <a:spLocks noGrp="1"/>
          </p:cNvSpPr>
          <p:nvPr/>
        </p:nvSpPr>
        <p:spPr>
          <a:xfrm>
            <a:off x="5505450" y="2724150"/>
            <a:ext cx="2476500" cy="3238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 algn="l">
              <a:defRPr sz="1500" b="1">
                <a:solidFill>
                  <a:srgbClr val="3478F6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3478F6"/>
                </a:solidFill>
                <a:latin typeface="Aptos"/>
                <a:ea typeface="Aptos"/>
                <a:cs typeface="Aptos"/>
              </a:rPr>
              <a:t>Нужен один ответ</a:t>
            </a:r>
            <a:endParaRPr sz="1500" b="1">
              <a:solidFill>
                <a:srgbClr val="3478F6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7" name="Прямоугольник 6"/>
          <p:cNvSpPr>
            <a:spLocks noGrp="1"/>
          </p:cNvSpPr>
          <p:nvPr/>
        </p:nvSpPr>
        <p:spPr>
          <a:xfrm>
            <a:off x="5505450" y="3105150"/>
            <a:ext cx="4762500" cy="12382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 algn="l">
              <a:defRPr sz="2475" b="1">
                <a:solidFill>
                  <a:srgbClr val="0C2019"/>
                </a:solidFill>
                <a:latin typeface="Aptos"/>
                <a:ea typeface="Aptos"/>
                <a:cs typeface="Aptos"/>
              </a:defRPr>
            </a:pPr>
            <a:r>
              <a:rPr sz="2475" b="1">
                <a:solidFill>
                  <a:srgbClr val="0C2019"/>
                </a:solidFill>
                <a:latin typeface="Aptos"/>
                <a:ea typeface="Aptos"/>
                <a:cs typeface="Aptos"/>
              </a:rPr>
              <a:t>Какой пакет мер даёт лучший измеримый результат и не нарушает бюджетное ограничение?</a:t>
            </a:r>
            <a:endParaRPr sz="2475" b="1">
              <a:solidFill>
                <a:srgbClr val="0C2019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8" name="Прямоугольник 7"/>
          <p:cNvSpPr>
            <a:spLocks noGrp="1"/>
          </p:cNvSpPr>
          <p:nvPr/>
        </p:nvSpPr>
        <p:spPr>
          <a:xfrm>
            <a:off x="5505450" y="4629150"/>
            <a:ext cx="4762500" cy="6667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 algn="l">
              <a:defRPr sz="1725" b="0">
                <a:solidFill>
                  <a:srgbClr val="799087"/>
                </a:solidFill>
                <a:latin typeface="Aptos"/>
                <a:ea typeface="Aptos"/>
                <a:cs typeface="Aptos"/>
              </a:defRPr>
            </a:pPr>
            <a:r>
              <a:rPr sz="1725" b="0">
                <a:solidFill>
                  <a:srgbClr val="799087"/>
                </a:solidFill>
                <a:latin typeface="Aptos"/>
                <a:ea typeface="Aptos"/>
                <a:cs typeface="Aptos"/>
              </a:rPr>
              <a:t>Наш прототип делает этот вопрос интерактивным и повторяемым.</a:t>
            </a:r>
            <a:endParaRPr sz="1725" b="0">
              <a:solidFill>
                <a:srgbClr val="799087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9" name="Прямоугольник 8"/>
          <p:cNvSpPr>
            <a:spLocks noGrp="1"/>
          </p:cNvSpPr>
          <p:nvPr/>
        </p:nvSpPr>
        <p:spPr>
          <a:xfrm>
            <a:off x="628650" y="6477000"/>
            <a:ext cx="10934700" cy="9525"/>
          </a:xfrm>
          <a:prstGeom prst="rect">
            <a:avLst/>
          </a:prstGeom>
          <a:solidFill>
            <a:srgbClr val="0C2019">
              <a:alpha val="14000"/>
            </a:srgbClr>
          </a:solidFill>
          <a:ln w="0">
            <a:noFill/>
          </a:ln>
        </p:spPr>
      </p:sp>
      <p:sp>
        <p:nvSpPr>
          <p:cNvPr id="10" name="Прямоугольник 9"/>
          <p:cNvSpPr>
            <a:spLocks noGrp="1"/>
          </p:cNvSpPr>
          <p:nvPr/>
        </p:nvSpPr>
        <p:spPr>
          <a:xfrm>
            <a:off x="628650" y="6543675"/>
            <a:ext cx="2857500" cy="1905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 algn="l">
              <a:defRPr sz="1050" b="1">
                <a:solidFill>
                  <a:srgbClr val="799087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799087"/>
                </a:solidFill>
                <a:latin typeface="Aptos"/>
                <a:ea typeface="Aptos"/>
                <a:cs typeface="Aptos"/>
              </a:rPr>
              <a:t>Аким на 5 часов</a:t>
            </a:r>
            <a:endParaRPr sz="1050" b="1">
              <a:solidFill>
                <a:srgbClr val="799087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11" name="Прямоугольник 10"/>
          <p:cNvSpPr>
            <a:spLocks noGrp="1"/>
          </p:cNvSpPr>
          <p:nvPr/>
        </p:nvSpPr>
        <p:spPr>
          <a:xfrm>
            <a:off x="11010900" y="6543675"/>
            <a:ext cx="552450" cy="1905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 algn="r">
              <a:defRPr sz="1050" b="1">
                <a:solidFill>
                  <a:srgbClr val="799087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799087"/>
                </a:solidFill>
                <a:latin typeface="Aptos"/>
                <a:ea typeface="Aptos"/>
                <a:cs typeface="Aptos"/>
              </a:rPr>
              <a:t>02</a:t>
            </a:r>
            <a:endParaRPr sz="1050" b="1">
              <a:solidFill>
                <a:srgbClr val="799087"/>
              </a:solidFill>
              <a:latin typeface="Aptos"/>
              <a:ea typeface="Aptos"/>
              <a:cs typeface="Aptos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C201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14" name="Прямоугольник 13"/>
          <p:cNvSpPr>
            <a:spLocks noGrp="1"/>
          </p:cNvSpPr>
          <p:nvPr/>
        </p:nvSpPr>
        <p:spPr>
          <a:xfrm>
            <a:off x="628650" y="428625"/>
            <a:ext cx="10934700" cy="6096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 algn="l">
              <a:defRPr sz="31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31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Один экран связывает выбор, расчёт и объяснение</a:t>
            </a:r>
            <a:endParaRPr sz="3150" b="1">
              <a:solidFill>
                <a:srgbClr val="FFFFFF"/>
              </a:solidFill>
              <a:latin typeface="Aptos"/>
              <a:ea typeface="Aptos"/>
              <a:cs typeface="Aptos"/>
            </a:endParaRPr>
          </a:p>
        </p:txBody>
      </p:sp>
      <p:pic>
        <p:nvPicPr>
          <p:cNvPr id="15" name="Изображение 14"/>
          <p:cNvPicPr>
            <a:picLocks noChangeAspect="1"/>
          </p:cNvPicPr>
          <p:nvPr/>
        </p:nvPicPr>
        <p:blipFill>
          <a:blip r:embed="rId1"/>
          <a:srcRect b="2000"/>
          <a:stretch>
            <a:fillRect/>
          </a:stretch>
        </p:blipFill>
        <p:spPr>
          <a:xfrm>
            <a:off x="3333750" y="1200150"/>
            <a:ext cx="8229600" cy="4629150"/>
          </a:xfrm>
          <a:prstGeom prst="roundRect">
            <a:avLst>
              <a:gd name="adj" fmla="val 3292"/>
            </a:avLst>
          </a:prstGeom>
        </p:spPr>
      </p:pic>
      <p:sp>
        <p:nvSpPr>
          <p:cNvPr id="3" name="Прямоугольник 2"/>
          <p:cNvSpPr>
            <a:spLocks noGrp="1"/>
          </p:cNvSpPr>
          <p:nvPr/>
        </p:nvSpPr>
        <p:spPr>
          <a:xfrm>
            <a:off x="628650" y="1466850"/>
            <a:ext cx="609600" cy="4000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 algn="l">
              <a:defRPr sz="2550" b="1">
                <a:solidFill>
                  <a:srgbClr val="D9F879"/>
                </a:solidFill>
                <a:latin typeface="Aptos"/>
                <a:ea typeface="Aptos"/>
                <a:cs typeface="Aptos"/>
              </a:defRPr>
            </a:pPr>
            <a:r>
              <a:rPr sz="2550" b="1">
                <a:solidFill>
                  <a:srgbClr val="D9F879"/>
                </a:solidFill>
                <a:latin typeface="Aptos"/>
                <a:ea typeface="Aptos"/>
                <a:cs typeface="Aptos"/>
              </a:rPr>
              <a:t>01</a:t>
            </a:r>
            <a:endParaRPr sz="2550" b="1">
              <a:solidFill>
                <a:srgbClr val="D9F879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4" name="Прямоугольник 3"/>
          <p:cNvSpPr>
            <a:spLocks noGrp="1"/>
          </p:cNvSpPr>
          <p:nvPr/>
        </p:nvSpPr>
        <p:spPr>
          <a:xfrm>
            <a:off x="628650" y="1924050"/>
            <a:ext cx="2171700" cy="3048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 algn="l">
              <a:defRPr sz="18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87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Выбрать</a:t>
            </a:r>
            <a:endParaRPr sz="1875" b="1">
              <a:solidFill>
                <a:srgbClr val="FFFFFF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5" name="Прямоугольник 4"/>
          <p:cNvSpPr>
            <a:spLocks noGrp="1"/>
          </p:cNvSpPr>
          <p:nvPr/>
        </p:nvSpPr>
        <p:spPr>
          <a:xfrm>
            <a:off x="628650" y="2305050"/>
            <a:ext cx="2190750" cy="6667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 algn="l">
              <a:defRPr sz="1500" b="0">
                <a:solidFill>
                  <a:srgbClr val="FFFFFF">
                    <a:alpha val="72000"/>
                  </a:srgbClr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FFFFFF">
                    <a:alpha val="72000"/>
                  </a:srgbClr>
                </a:solidFill>
                <a:latin typeface="Aptos"/>
                <a:ea typeface="Aptos"/>
                <a:cs typeface="Aptos"/>
              </a:rPr>
              <a:t>Одна мера на каждое направление</a:t>
            </a:r>
            <a:endParaRPr sz="1500" b="0">
              <a:solidFill>
                <a:srgbClr val="FFFFFF">
                  <a:alpha val="72000"/>
                </a:srgbClr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6" name="Прямоугольник 5"/>
          <p:cNvSpPr>
            <a:spLocks noGrp="1"/>
          </p:cNvSpPr>
          <p:nvPr/>
        </p:nvSpPr>
        <p:spPr>
          <a:xfrm>
            <a:off x="628650" y="3219450"/>
            <a:ext cx="609600" cy="4000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 algn="l">
              <a:defRPr sz="2550" b="1">
                <a:solidFill>
                  <a:srgbClr val="7BDCB5"/>
                </a:solidFill>
                <a:latin typeface="Aptos"/>
                <a:ea typeface="Aptos"/>
                <a:cs typeface="Aptos"/>
              </a:defRPr>
            </a:pPr>
            <a:r>
              <a:rPr sz="2550" b="1">
                <a:solidFill>
                  <a:srgbClr val="7BDCB5"/>
                </a:solidFill>
                <a:latin typeface="Aptos"/>
                <a:ea typeface="Aptos"/>
                <a:cs typeface="Aptos"/>
              </a:rPr>
              <a:t>02</a:t>
            </a:r>
            <a:endParaRPr sz="2550" b="1">
              <a:solidFill>
                <a:srgbClr val="7BDCB5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7" name="Прямоугольник 6"/>
          <p:cNvSpPr>
            <a:spLocks noGrp="1"/>
          </p:cNvSpPr>
          <p:nvPr/>
        </p:nvSpPr>
        <p:spPr>
          <a:xfrm>
            <a:off x="628650" y="3676650"/>
            <a:ext cx="2171700" cy="3048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 algn="l">
              <a:defRPr sz="18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87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Сравнить</a:t>
            </a:r>
            <a:endParaRPr sz="1875" b="1">
              <a:solidFill>
                <a:srgbClr val="FFFFFF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8" name="Прямоугольник 7"/>
          <p:cNvSpPr>
            <a:spLocks noGrp="1"/>
          </p:cNvSpPr>
          <p:nvPr/>
        </p:nvSpPr>
        <p:spPr>
          <a:xfrm>
            <a:off x="628650" y="4057650"/>
            <a:ext cx="2190750" cy="6667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 algn="l">
              <a:defRPr sz="1500" b="0">
                <a:solidFill>
                  <a:srgbClr val="FFFFFF">
                    <a:alpha val="72000"/>
                  </a:srgbClr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FFFFFF">
                    <a:alpha val="72000"/>
                  </a:srgbClr>
                </a:solidFill>
                <a:latin typeface="Aptos"/>
                <a:ea typeface="Aptos"/>
                <a:cs typeface="Aptos"/>
              </a:rPr>
              <a:t>Бюджет, районы и дельты на одной шкале</a:t>
            </a:r>
            <a:endParaRPr sz="1500" b="0">
              <a:solidFill>
                <a:srgbClr val="FFFFFF">
                  <a:alpha val="72000"/>
                </a:srgbClr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9" name="Прямоугольник 8"/>
          <p:cNvSpPr>
            <a:spLocks noGrp="1"/>
          </p:cNvSpPr>
          <p:nvPr/>
        </p:nvSpPr>
        <p:spPr>
          <a:xfrm>
            <a:off x="628650" y="4972050"/>
            <a:ext cx="609600" cy="4000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 algn="l">
              <a:defRPr sz="2550" b="1">
                <a:solidFill>
                  <a:srgbClr val="F3B35A"/>
                </a:solidFill>
                <a:latin typeface="Aptos"/>
                <a:ea typeface="Aptos"/>
                <a:cs typeface="Aptos"/>
              </a:defRPr>
            </a:pPr>
            <a:r>
              <a:rPr sz="2550" b="1">
                <a:solidFill>
                  <a:srgbClr val="F3B35A"/>
                </a:solidFill>
                <a:latin typeface="Aptos"/>
                <a:ea typeface="Aptos"/>
                <a:cs typeface="Aptos"/>
              </a:rPr>
              <a:t>03</a:t>
            </a:r>
            <a:endParaRPr sz="2550" b="1">
              <a:solidFill>
                <a:srgbClr val="F3B35A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10" name="Прямоугольник 9"/>
          <p:cNvSpPr>
            <a:spLocks noGrp="1"/>
          </p:cNvSpPr>
          <p:nvPr/>
        </p:nvSpPr>
        <p:spPr>
          <a:xfrm>
            <a:off x="628650" y="5429250"/>
            <a:ext cx="2171700" cy="3048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 algn="l">
              <a:defRPr sz="18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87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Объяснить</a:t>
            </a:r>
            <a:endParaRPr sz="1875" b="1">
              <a:solidFill>
                <a:srgbClr val="FFFFFF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11" name="Прямоугольник 10"/>
          <p:cNvSpPr>
            <a:spLocks noGrp="1"/>
          </p:cNvSpPr>
          <p:nvPr/>
        </p:nvSpPr>
        <p:spPr>
          <a:xfrm>
            <a:off x="628650" y="6477000"/>
            <a:ext cx="10934700" cy="9525"/>
          </a:xfrm>
          <a:prstGeom prst="rect">
            <a:avLst/>
          </a:prstGeom>
          <a:solidFill>
            <a:srgbClr val="FFFFFF">
              <a:alpha val="22000"/>
            </a:srgbClr>
          </a:solidFill>
          <a:ln w="0">
            <a:noFill/>
          </a:ln>
        </p:spPr>
      </p:sp>
      <p:sp>
        <p:nvSpPr>
          <p:cNvPr id="12" name="Прямоугольник 11"/>
          <p:cNvSpPr>
            <a:spLocks noGrp="1"/>
          </p:cNvSpPr>
          <p:nvPr/>
        </p:nvSpPr>
        <p:spPr>
          <a:xfrm>
            <a:off x="628650" y="6543675"/>
            <a:ext cx="2857500" cy="1905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 algn="l">
              <a:defRPr sz="1050" b="1">
                <a:solidFill>
                  <a:srgbClr val="FFFFFF">
                    <a:alpha val="70000"/>
                  </a:srgbClr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FFFFFF">
                    <a:alpha val="70000"/>
                  </a:srgbClr>
                </a:solidFill>
                <a:latin typeface="Aptos"/>
                <a:ea typeface="Aptos"/>
                <a:cs typeface="Aptos"/>
              </a:rPr>
              <a:t>Аким на 5 часов</a:t>
            </a:r>
            <a:endParaRPr sz="1050" b="1">
              <a:solidFill>
                <a:srgbClr val="FFFFFF">
                  <a:alpha val="70000"/>
                </a:srgbClr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13" name="Прямоугольник 12"/>
          <p:cNvSpPr>
            <a:spLocks noGrp="1"/>
          </p:cNvSpPr>
          <p:nvPr/>
        </p:nvSpPr>
        <p:spPr>
          <a:xfrm>
            <a:off x="11010900" y="6543675"/>
            <a:ext cx="552450" cy="1905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 algn="r">
              <a:defRPr sz="1050" b="1">
                <a:solidFill>
                  <a:srgbClr val="FFFFFF">
                    <a:alpha val="70000"/>
                  </a:srgbClr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FFFFFF">
                    <a:alpha val="70000"/>
                  </a:srgbClr>
                </a:solidFill>
                <a:latin typeface="Aptos"/>
                <a:ea typeface="Aptos"/>
                <a:cs typeface="Aptos"/>
              </a:rPr>
              <a:t>03</a:t>
            </a:r>
            <a:endParaRPr sz="1050" b="1">
              <a:solidFill>
                <a:srgbClr val="FFFFFF">
                  <a:alpha val="70000"/>
                </a:srgbClr>
              </a:solidFill>
              <a:latin typeface="Aptos"/>
              <a:ea typeface="Aptos"/>
              <a:cs typeface="Aptos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7F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19" name="Прямоугольник 18"/>
          <p:cNvSpPr>
            <a:spLocks noGrp="1"/>
          </p:cNvSpPr>
          <p:nvPr/>
        </p:nvSpPr>
        <p:spPr>
          <a:xfrm>
            <a:off x="628650" y="428625"/>
            <a:ext cx="10934700" cy="6096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 algn="l">
              <a:defRPr sz="3150" b="1">
                <a:solidFill>
                  <a:srgbClr val="0C2019"/>
                </a:solidFill>
                <a:latin typeface="Aptos"/>
                <a:ea typeface="Aptos"/>
                <a:cs typeface="Aptos"/>
              </a:defRPr>
            </a:pPr>
            <a:r>
              <a:rPr sz="3150" b="1">
                <a:solidFill>
                  <a:srgbClr val="0C2019"/>
                </a:solidFill>
                <a:latin typeface="Aptos"/>
                <a:ea typeface="Aptos"/>
                <a:cs typeface="Aptos"/>
              </a:rPr>
              <a:t>Демонстрационный сценарий даёт +11 пунктов</a:t>
            </a:r>
            <a:endParaRPr sz="3150" b="1">
              <a:solidFill>
                <a:srgbClr val="0C2019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2" name="Прямоугольник 1"/>
          <p:cNvSpPr>
            <a:spLocks noGrp="1"/>
          </p:cNvSpPr>
          <p:nvPr/>
        </p:nvSpPr>
        <p:spPr>
          <a:xfrm>
            <a:off x="647700" y="1352550"/>
            <a:ext cx="1143000" cy="8763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 algn="l">
              <a:defRPr sz="4950" b="1">
                <a:solidFill>
                  <a:srgbClr val="799087"/>
                </a:solidFill>
                <a:latin typeface="Aptos"/>
                <a:ea typeface="Aptos"/>
                <a:cs typeface="Aptos"/>
              </a:defRPr>
            </a:pPr>
            <a:r>
              <a:rPr sz="4950" b="1">
                <a:solidFill>
                  <a:srgbClr val="799087"/>
                </a:solidFill>
                <a:latin typeface="Aptos"/>
                <a:ea typeface="Aptos"/>
                <a:cs typeface="Aptos"/>
              </a:rPr>
              <a:t>59</a:t>
            </a:r>
            <a:endParaRPr sz="4950" b="1">
              <a:solidFill>
                <a:srgbClr val="799087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3" name="Прямоугольник 2"/>
          <p:cNvSpPr>
            <a:spLocks noGrp="1"/>
          </p:cNvSpPr>
          <p:nvPr/>
        </p:nvSpPr>
        <p:spPr>
          <a:xfrm>
            <a:off x="2095500" y="1352550"/>
            <a:ext cx="1143000" cy="8763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 algn="l">
              <a:defRPr sz="4950" b="1">
                <a:solidFill>
                  <a:srgbClr val="0C2019"/>
                </a:solidFill>
                <a:latin typeface="Aptos"/>
                <a:ea typeface="Aptos"/>
                <a:cs typeface="Aptos"/>
              </a:defRPr>
            </a:pPr>
            <a:r>
              <a:rPr sz="4950" b="1">
                <a:solidFill>
                  <a:srgbClr val="0C2019"/>
                </a:solidFill>
                <a:latin typeface="Aptos"/>
                <a:ea typeface="Aptos"/>
                <a:cs typeface="Aptos"/>
              </a:rPr>
              <a:t>70</a:t>
            </a:r>
            <a:endParaRPr sz="4950" b="1">
              <a:solidFill>
                <a:srgbClr val="0C2019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4" name="Прямоугольник 3"/>
          <p:cNvSpPr>
            <a:spLocks noGrp="1"/>
          </p:cNvSpPr>
          <p:nvPr/>
        </p:nvSpPr>
        <p:spPr>
          <a:xfrm>
            <a:off x="666750" y="2190750"/>
            <a:ext cx="1200150" cy="2667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 algn="l">
              <a:defRPr sz="1200" b="0">
                <a:solidFill>
                  <a:srgbClr val="799087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799087"/>
                </a:solidFill>
                <a:latin typeface="Aptos"/>
                <a:ea typeface="Aptos"/>
                <a:cs typeface="Aptos"/>
              </a:rPr>
              <a:t>исходный индекс</a:t>
            </a:r>
            <a:endParaRPr sz="1200" b="0">
              <a:solidFill>
                <a:srgbClr val="799087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5" name="Прямоугольник 4"/>
          <p:cNvSpPr>
            <a:spLocks noGrp="1"/>
          </p:cNvSpPr>
          <p:nvPr/>
        </p:nvSpPr>
        <p:spPr>
          <a:xfrm>
            <a:off x="2114550" y="2190750"/>
            <a:ext cx="1200150" cy="2667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 algn="l">
              <a:defRPr sz="1200" b="0">
                <a:solidFill>
                  <a:srgbClr val="799087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799087"/>
                </a:solidFill>
                <a:latin typeface="Aptos"/>
                <a:ea typeface="Aptos"/>
                <a:cs typeface="Aptos"/>
              </a:rPr>
              <a:t>прогноз</a:t>
            </a:r>
            <a:endParaRPr sz="1200" b="0">
              <a:solidFill>
                <a:srgbClr val="799087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6" name="Прямоугольник 5"/>
          <p:cNvSpPr>
            <a:spLocks noGrp="1"/>
          </p:cNvSpPr>
          <p:nvPr/>
        </p:nvSpPr>
        <p:spPr>
          <a:xfrm>
            <a:off x="1733550" y="1714500"/>
            <a:ext cx="247650" cy="38100"/>
          </a:xfrm>
          <a:prstGeom prst="rect">
            <a:avLst/>
          </a:prstGeom>
          <a:solidFill>
            <a:srgbClr val="7BDCB5"/>
          </a:solidFill>
          <a:ln w="0">
            <a:noFill/>
          </a:ln>
        </p:spPr>
      </p:sp>
      <p:sp>
        <p:nvSpPr>
          <p:cNvPr id="7" name="Прямоугольник 6"/>
          <p:cNvSpPr>
            <a:spLocks noGrp="1"/>
          </p:cNvSpPr>
          <p:nvPr/>
        </p:nvSpPr>
        <p:spPr>
          <a:xfrm>
            <a:off x="647700" y="2724150"/>
            <a:ext cx="1428750" cy="6667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 algn="l">
              <a:defRPr sz="3750" b="1">
                <a:solidFill>
                  <a:srgbClr val="3478F6"/>
                </a:solidFill>
                <a:latin typeface="Aptos"/>
                <a:ea typeface="Aptos"/>
                <a:cs typeface="Aptos"/>
              </a:defRPr>
            </a:pPr>
            <a:r>
              <a:rPr sz="3750" b="1">
                <a:solidFill>
                  <a:srgbClr val="3478F6"/>
                </a:solidFill>
                <a:latin typeface="Aptos"/>
                <a:ea typeface="Aptos"/>
                <a:cs typeface="Aptos"/>
              </a:rPr>
              <a:t>+11</a:t>
            </a:r>
            <a:endParaRPr sz="3750" b="1">
              <a:solidFill>
                <a:srgbClr val="3478F6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8" name="Прямоугольник 7"/>
          <p:cNvSpPr>
            <a:spLocks noGrp="1"/>
          </p:cNvSpPr>
          <p:nvPr/>
        </p:nvSpPr>
        <p:spPr>
          <a:xfrm>
            <a:off x="666750" y="3333750"/>
            <a:ext cx="2333625" cy="6858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 algn="l">
              <a:defRPr sz="1500" b="0">
                <a:solidFill>
                  <a:srgbClr val="173027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173027"/>
                </a:solidFill>
                <a:latin typeface="Aptos"/>
                <a:ea typeface="Aptos"/>
                <a:cs typeface="Aptos"/>
              </a:rPr>
              <a:t>пунктов к Astana Quality of Life Score</a:t>
            </a:r>
            <a:endParaRPr sz="1500" b="0">
              <a:solidFill>
                <a:srgbClr val="173027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9" name="Прямоугольник 8"/>
          <p:cNvSpPr>
            <a:spLocks noGrp="1"/>
          </p:cNvSpPr>
          <p:nvPr/>
        </p:nvSpPr>
        <p:spPr>
          <a:xfrm>
            <a:off x="647700" y="4400550"/>
            <a:ext cx="2095500" cy="5524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 algn="l">
              <a:defRPr sz="2850" b="1">
                <a:solidFill>
                  <a:srgbClr val="0C2019"/>
                </a:solidFill>
                <a:latin typeface="Aptos"/>
                <a:ea typeface="Aptos"/>
                <a:cs typeface="Aptos"/>
              </a:defRPr>
            </a:pPr>
            <a:r>
              <a:rPr sz="2850" b="1">
                <a:solidFill>
                  <a:srgbClr val="0C2019"/>
                </a:solidFill>
                <a:latin typeface="Aptos"/>
                <a:ea typeface="Aptos"/>
                <a:cs typeface="Aptos"/>
              </a:rPr>
              <a:t>78 / 100</a:t>
            </a:r>
            <a:endParaRPr sz="2850" b="1">
              <a:solidFill>
                <a:srgbClr val="0C2019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10" name="Прямоугольник 9"/>
          <p:cNvSpPr>
            <a:spLocks noGrp="1"/>
          </p:cNvSpPr>
          <p:nvPr/>
        </p:nvSpPr>
        <p:spPr>
          <a:xfrm>
            <a:off x="666750" y="4953000"/>
            <a:ext cx="2095500" cy="2667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 algn="l">
              <a:defRPr sz="1275" b="0">
                <a:solidFill>
                  <a:srgbClr val="799087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799087"/>
                </a:solidFill>
                <a:latin typeface="Aptos"/>
                <a:ea typeface="Aptos"/>
                <a:cs typeface="Aptos"/>
              </a:rPr>
              <a:t>виртуальный бюджет</a:t>
            </a:r>
            <a:endParaRPr sz="1275" b="0">
              <a:solidFill>
                <a:srgbClr val="799087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11" name="Прямоугольник 10"/>
          <p:cNvSpPr>
            <a:spLocks noGrp="1"/>
          </p:cNvSpPr>
          <p:nvPr/>
        </p:nvSpPr>
        <p:spPr>
          <a:xfrm>
            <a:off x="647700" y="5391150"/>
            <a:ext cx="762000" cy="4381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 algn="l">
              <a:defRPr sz="2400" b="1">
                <a:solidFill>
                  <a:srgbClr val="7BDCB5"/>
                </a:solidFill>
                <a:latin typeface="Aptos"/>
                <a:ea typeface="Aptos"/>
                <a:cs typeface="Aptos"/>
              </a:defRPr>
            </a:pPr>
            <a:r>
              <a:rPr sz="2400" b="1">
                <a:solidFill>
                  <a:srgbClr val="7BDCB5"/>
                </a:solidFill>
                <a:latin typeface="Aptos"/>
                <a:ea typeface="Aptos"/>
                <a:cs typeface="Aptos"/>
              </a:rPr>
              <a:t>22</a:t>
            </a:r>
            <a:endParaRPr sz="2400" b="1">
              <a:solidFill>
                <a:srgbClr val="7BDCB5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12" name="Прямоугольник 11"/>
          <p:cNvSpPr>
            <a:spLocks noGrp="1"/>
          </p:cNvSpPr>
          <p:nvPr/>
        </p:nvSpPr>
        <p:spPr>
          <a:xfrm>
            <a:off x="1333500" y="5467350"/>
            <a:ext cx="1524000" cy="2667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 algn="l">
              <a:defRPr sz="1275" b="0">
                <a:solidFill>
                  <a:srgbClr val="799087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799087"/>
                </a:solidFill>
                <a:latin typeface="Aptos"/>
                <a:ea typeface="Aptos"/>
                <a:cs typeface="Aptos"/>
              </a:rPr>
              <a:t>единицы резерва</a:t>
            </a:r>
            <a:endParaRPr sz="1275" b="0">
              <a:solidFill>
                <a:srgbClr val="799087"/>
              </a:solidFill>
              <a:latin typeface="Aptos"/>
              <a:ea typeface="Aptos"/>
              <a:cs typeface="Aptos"/>
            </a:endParaRPr>
          </a:p>
        </p:txBody>
      </p:sp>
      <p:graphicFrame>
        <p:nvGraphicFramePr>
          <p:cNvPr id="31" name="Chart"/>
          <p:cNvGraphicFramePr/>
          <p:nvPr/>
        </p:nvGraphicFramePr>
        <p:xfrm>
          <a:off x="3714750" y="1428750"/>
          <a:ext cx="7810500" cy="414337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"/>
          </a:graphicData>
        </a:graphic>
      </p:graphicFrame>
      <p:sp>
        <p:nvSpPr>
          <p:cNvPr id="14" name="Прямоугольник 13"/>
          <p:cNvSpPr>
            <a:spLocks noGrp="1"/>
          </p:cNvSpPr>
          <p:nvPr/>
        </p:nvSpPr>
        <p:spPr>
          <a:xfrm>
            <a:off x="3771900" y="5619750"/>
            <a:ext cx="4762500" cy="2476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 algn="l">
              <a:defRPr sz="1200" b="0">
                <a:solidFill>
                  <a:srgbClr val="799087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799087"/>
                </a:solidFill>
                <a:latin typeface="Aptos"/>
                <a:ea typeface="Aptos"/>
                <a:cs typeface="Aptos"/>
              </a:rPr>
              <a:t>Средняя дельта по пяти районам, пункты</a:t>
            </a:r>
            <a:endParaRPr sz="1200" b="0">
              <a:solidFill>
                <a:srgbClr val="799087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15" name="Прямоугольник 14"/>
          <p:cNvSpPr>
            <a:spLocks noGrp="1"/>
          </p:cNvSpPr>
          <p:nvPr/>
        </p:nvSpPr>
        <p:spPr>
          <a:xfrm>
            <a:off x="8610600" y="5619750"/>
            <a:ext cx="2857500" cy="2476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 algn="r">
              <a:defRPr sz="1125" b="0">
                <a:solidFill>
                  <a:srgbClr val="D85273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D85273"/>
                </a:solidFill>
                <a:latin typeface="Aptos"/>
                <a:ea typeface="Aptos"/>
                <a:cs typeface="Aptos"/>
              </a:rPr>
              <a:t>Синтетический демо-датасет</a:t>
            </a:r>
            <a:endParaRPr sz="1125" b="0">
              <a:solidFill>
                <a:srgbClr val="D85273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16" name="Прямоугольник 15"/>
          <p:cNvSpPr>
            <a:spLocks noGrp="1"/>
          </p:cNvSpPr>
          <p:nvPr/>
        </p:nvSpPr>
        <p:spPr>
          <a:xfrm>
            <a:off x="628650" y="6477000"/>
            <a:ext cx="10934700" cy="9525"/>
          </a:xfrm>
          <a:prstGeom prst="rect">
            <a:avLst/>
          </a:prstGeom>
          <a:solidFill>
            <a:srgbClr val="0C2019">
              <a:alpha val="14000"/>
            </a:srgbClr>
          </a:solidFill>
          <a:ln w="0">
            <a:noFill/>
          </a:ln>
        </p:spPr>
      </p:sp>
      <p:sp>
        <p:nvSpPr>
          <p:cNvPr id="17" name="Прямоугольник 16"/>
          <p:cNvSpPr>
            <a:spLocks noGrp="1"/>
          </p:cNvSpPr>
          <p:nvPr/>
        </p:nvSpPr>
        <p:spPr>
          <a:xfrm>
            <a:off x="628650" y="6543675"/>
            <a:ext cx="2857500" cy="1905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 algn="l">
              <a:defRPr sz="1050" b="1">
                <a:solidFill>
                  <a:srgbClr val="799087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799087"/>
                </a:solidFill>
                <a:latin typeface="Aptos"/>
                <a:ea typeface="Aptos"/>
                <a:cs typeface="Aptos"/>
              </a:rPr>
              <a:t>Аким на 5 часов</a:t>
            </a:r>
            <a:endParaRPr sz="1050" b="1">
              <a:solidFill>
                <a:srgbClr val="799087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18" name="Прямоугольник 17"/>
          <p:cNvSpPr>
            <a:spLocks noGrp="1"/>
          </p:cNvSpPr>
          <p:nvPr/>
        </p:nvSpPr>
        <p:spPr>
          <a:xfrm>
            <a:off x="11010900" y="6543675"/>
            <a:ext cx="552450" cy="1905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 algn="r">
              <a:defRPr sz="1050" b="1">
                <a:solidFill>
                  <a:srgbClr val="799087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799087"/>
                </a:solidFill>
                <a:latin typeface="Aptos"/>
                <a:ea typeface="Aptos"/>
                <a:cs typeface="Aptos"/>
              </a:rPr>
              <a:t>04</a:t>
            </a:r>
            <a:endParaRPr sz="1050" b="1">
              <a:solidFill>
                <a:srgbClr val="799087"/>
              </a:solidFill>
              <a:latin typeface="Aptos"/>
              <a:ea typeface="Aptos"/>
              <a:cs typeface="Aptos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18" name="Прямоугольник 17"/>
          <p:cNvSpPr>
            <a:spLocks noGrp="1"/>
          </p:cNvSpPr>
          <p:nvPr/>
        </p:nvSpPr>
        <p:spPr>
          <a:xfrm>
            <a:off x="628650" y="428625"/>
            <a:ext cx="10934700" cy="6096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 algn="l">
              <a:defRPr sz="3150" b="1">
                <a:solidFill>
                  <a:srgbClr val="0C2019"/>
                </a:solidFill>
                <a:latin typeface="Aptos"/>
                <a:ea typeface="Aptos"/>
                <a:cs typeface="Aptos"/>
              </a:defRPr>
            </a:pPr>
            <a:r>
              <a:rPr sz="3150" b="1">
                <a:solidFill>
                  <a:srgbClr val="0C2019"/>
                </a:solidFill>
                <a:latin typeface="Aptos"/>
                <a:ea typeface="Aptos"/>
                <a:cs typeface="Aptos"/>
              </a:rPr>
              <a:t>Числа считает модель, AI объясняет результат</a:t>
            </a:r>
            <a:endParaRPr sz="3150" b="1">
              <a:solidFill>
                <a:srgbClr val="0C2019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2" name="Прямоугольник 1"/>
          <p:cNvSpPr>
            <a:spLocks noGrp="1"/>
          </p:cNvSpPr>
          <p:nvPr/>
        </p:nvSpPr>
        <p:spPr>
          <a:xfrm>
            <a:off x="647700" y="1257300"/>
            <a:ext cx="4953000" cy="3048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 algn="l">
              <a:defRPr sz="1575" b="1">
                <a:solidFill>
                  <a:srgbClr val="799087"/>
                </a:solidFill>
                <a:latin typeface="Aptos"/>
                <a:ea typeface="Aptos"/>
                <a:cs typeface="Aptos"/>
              </a:defRPr>
            </a:pPr>
            <a:r>
              <a:rPr sz="1575" b="1">
                <a:solidFill>
                  <a:srgbClr val="799087"/>
                </a:solidFill>
                <a:latin typeface="Aptos"/>
                <a:ea typeface="Aptos"/>
                <a:cs typeface="Aptos"/>
              </a:rPr>
              <a:t>Для каждого района и направления</a:t>
            </a:r>
            <a:endParaRPr sz="1575" b="1">
              <a:solidFill>
                <a:srgbClr val="799087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3" name="Скругленный прямоугольник 2"/>
          <p:cNvSpPr>
            <a:spLocks noGrp="1"/>
          </p:cNvSpPr>
          <p:nvPr/>
        </p:nvSpPr>
        <p:spPr>
          <a:xfrm>
            <a:off x="647700" y="1790700"/>
            <a:ext cx="10858500" cy="1104900"/>
          </a:xfrm>
          <a:prstGeom prst="roundRect">
            <a:avLst>
              <a:gd name="adj" fmla="val 6897"/>
            </a:avLst>
          </a:prstGeom>
          <a:solidFill>
            <a:srgbClr val="0C2019"/>
          </a:solidFill>
          <a:ln w="0">
            <a:noFill/>
          </a:ln>
        </p:spPr>
      </p:sp>
      <p:sp>
        <p:nvSpPr>
          <p:cNvPr id="4" name="Прямоугольник 3"/>
          <p:cNvSpPr>
            <a:spLocks noGrp="1"/>
          </p:cNvSpPr>
          <p:nvPr/>
        </p:nvSpPr>
        <p:spPr>
          <a:xfrm>
            <a:off x="933450" y="2057400"/>
            <a:ext cx="10191750" cy="5334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 algn="ctr">
              <a:defRPr sz="262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262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Δ = round Σ(impact × coverage) × sensitivity</a:t>
            </a:r>
            <a:endParaRPr sz="2625" b="1">
              <a:solidFill>
                <a:srgbClr val="FFFFFF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5" name="Прямоугольник 4"/>
          <p:cNvSpPr>
            <a:spLocks noGrp="1"/>
          </p:cNvSpPr>
          <p:nvPr/>
        </p:nvSpPr>
        <p:spPr>
          <a:xfrm>
            <a:off x="933450" y="3171825"/>
            <a:ext cx="10191750" cy="4953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 algn="ctr">
              <a:defRPr sz="2325" b="1">
                <a:solidFill>
                  <a:srgbClr val="3478F6"/>
                </a:solidFill>
                <a:latin typeface="Aptos"/>
                <a:ea typeface="Aptos"/>
                <a:cs typeface="Aptos"/>
              </a:defRPr>
            </a:pPr>
            <a:r>
              <a:rPr sz="2325" b="1">
                <a:solidFill>
                  <a:srgbClr val="3478F6"/>
                </a:solidFill>
                <a:latin typeface="Aptos"/>
                <a:ea typeface="Aptos"/>
                <a:cs typeface="Aptos"/>
              </a:rPr>
              <a:t>projected = clamp(baseline + Δ, 0, 100)</a:t>
            </a:r>
            <a:endParaRPr sz="2325" b="1">
              <a:solidFill>
                <a:srgbClr val="3478F6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6" name="Прямоугольник 5"/>
          <p:cNvSpPr>
            <a:spLocks noGrp="1"/>
          </p:cNvSpPr>
          <p:nvPr/>
        </p:nvSpPr>
        <p:spPr>
          <a:xfrm>
            <a:off x="1962150" y="4000500"/>
            <a:ext cx="19050" cy="1571625"/>
          </a:xfrm>
          <a:prstGeom prst="rect">
            <a:avLst/>
          </a:prstGeom>
          <a:solidFill>
            <a:srgbClr val="0C2019">
              <a:alpha val="16000"/>
            </a:srgbClr>
          </a:solidFill>
          <a:ln w="0">
            <a:noFill/>
          </a:ln>
        </p:spPr>
      </p:sp>
      <p:sp>
        <p:nvSpPr>
          <p:cNvPr id="7" name="Прямоугольник 6"/>
          <p:cNvSpPr>
            <a:spLocks noGrp="1"/>
          </p:cNvSpPr>
          <p:nvPr/>
        </p:nvSpPr>
        <p:spPr>
          <a:xfrm>
            <a:off x="6096000" y="4000500"/>
            <a:ext cx="19050" cy="1571625"/>
          </a:xfrm>
          <a:prstGeom prst="rect">
            <a:avLst/>
          </a:prstGeom>
          <a:solidFill>
            <a:srgbClr val="0C2019">
              <a:alpha val="16000"/>
            </a:srgbClr>
          </a:solidFill>
          <a:ln w="0">
            <a:noFill/>
          </a:ln>
        </p:spPr>
      </p:sp>
      <p:sp>
        <p:nvSpPr>
          <p:cNvPr id="8" name="Прямоугольник 7"/>
          <p:cNvSpPr>
            <a:spLocks noGrp="1"/>
          </p:cNvSpPr>
          <p:nvPr/>
        </p:nvSpPr>
        <p:spPr>
          <a:xfrm>
            <a:off x="666750" y="4057650"/>
            <a:ext cx="1143000" cy="3238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 algn="l">
              <a:defRPr sz="1575" b="1">
                <a:solidFill>
                  <a:srgbClr val="0C2019"/>
                </a:solidFill>
                <a:latin typeface="Aptos"/>
                <a:ea typeface="Aptos"/>
                <a:cs typeface="Aptos"/>
              </a:defRPr>
            </a:pPr>
            <a:r>
              <a:rPr sz="1575" b="1">
                <a:solidFill>
                  <a:srgbClr val="0C2019"/>
                </a:solidFill>
                <a:latin typeface="Aptos"/>
                <a:ea typeface="Aptos"/>
                <a:cs typeface="Aptos"/>
              </a:rPr>
              <a:t>Данные</a:t>
            </a:r>
            <a:endParaRPr sz="1575" b="1">
              <a:solidFill>
                <a:srgbClr val="0C2019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9" name="Прямоугольник 8"/>
          <p:cNvSpPr>
            <a:spLocks noGrp="1"/>
          </p:cNvSpPr>
          <p:nvPr/>
        </p:nvSpPr>
        <p:spPr>
          <a:xfrm>
            <a:off x="666750" y="4457700"/>
            <a:ext cx="1143000" cy="7810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 algn="l">
              <a:defRPr sz="1500" b="0">
                <a:solidFill>
                  <a:srgbClr val="799087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799087"/>
                </a:solidFill>
                <a:latin typeface="Aptos"/>
                <a:ea typeface="Aptos"/>
                <a:cs typeface="Aptos"/>
              </a:rPr>
              <a:t>baseline района</a:t>
            </a:r>
            <a:endParaRPr sz="1500" b="0">
              <a:solidFill>
                <a:srgbClr val="799087"/>
              </a:solidFill>
              <a:latin typeface="Aptos"/>
              <a:ea typeface="Aptos"/>
              <a:cs typeface="Aptos"/>
            </a:endParaRPr>
          </a:p>
          <a:p>
            <a:pPr algn="l">
              <a:defRPr sz="1500" b="0">
                <a:solidFill>
                  <a:srgbClr val="799087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799087"/>
                </a:solidFill>
                <a:latin typeface="Aptos"/>
                <a:ea typeface="Aptos"/>
                <a:cs typeface="Aptos"/>
              </a:rPr>
              <a:t>impact меры</a:t>
            </a:r>
            <a:endParaRPr sz="1500" b="0">
              <a:solidFill>
                <a:srgbClr val="799087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10" name="Прямоугольник 9"/>
          <p:cNvSpPr>
            <a:spLocks noGrp="1"/>
          </p:cNvSpPr>
          <p:nvPr/>
        </p:nvSpPr>
        <p:spPr>
          <a:xfrm>
            <a:off x="2324100" y="4057650"/>
            <a:ext cx="1428750" cy="3238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 algn="l">
              <a:defRPr sz="1575" b="1">
                <a:solidFill>
                  <a:srgbClr val="0C2019"/>
                </a:solidFill>
                <a:latin typeface="Aptos"/>
                <a:ea typeface="Aptos"/>
                <a:cs typeface="Aptos"/>
              </a:defRPr>
            </a:pPr>
            <a:r>
              <a:rPr sz="1575" b="1">
                <a:solidFill>
                  <a:srgbClr val="0C2019"/>
                </a:solidFill>
                <a:latin typeface="Aptos"/>
                <a:ea typeface="Aptos"/>
                <a:cs typeface="Aptos"/>
              </a:rPr>
              <a:t>Контекст</a:t>
            </a:r>
            <a:endParaRPr sz="1575" b="1">
              <a:solidFill>
                <a:srgbClr val="0C2019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11" name="Прямоугольник 10"/>
          <p:cNvSpPr>
            <a:spLocks noGrp="1"/>
          </p:cNvSpPr>
          <p:nvPr/>
        </p:nvSpPr>
        <p:spPr>
          <a:xfrm>
            <a:off x="2324100" y="4457700"/>
            <a:ext cx="3143250" cy="7810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 algn="l">
              <a:defRPr sz="1500" b="0">
                <a:solidFill>
                  <a:srgbClr val="799087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799087"/>
                </a:solidFill>
                <a:latin typeface="Aptos"/>
                <a:ea typeface="Aptos"/>
                <a:cs typeface="Aptos"/>
              </a:rPr>
              <a:t>охват</a:t>
            </a:r>
            <a:endParaRPr sz="1500" b="0">
              <a:solidFill>
                <a:srgbClr val="799087"/>
              </a:solidFill>
              <a:latin typeface="Aptos"/>
              <a:ea typeface="Aptos"/>
              <a:cs typeface="Aptos"/>
            </a:endParaRPr>
          </a:p>
          <a:p>
            <a:pPr algn="l">
              <a:defRPr sz="1500" b="0">
                <a:solidFill>
                  <a:srgbClr val="799087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799087"/>
                </a:solidFill>
                <a:latin typeface="Aptos"/>
                <a:ea typeface="Aptos"/>
                <a:cs typeface="Aptos"/>
              </a:rPr>
              <a:t>чувствительность района</a:t>
            </a:r>
            <a:endParaRPr sz="1500" b="0">
              <a:solidFill>
                <a:srgbClr val="799087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12" name="Прямоугольник 11"/>
          <p:cNvSpPr>
            <a:spLocks noGrp="1"/>
          </p:cNvSpPr>
          <p:nvPr/>
        </p:nvSpPr>
        <p:spPr>
          <a:xfrm>
            <a:off x="6515100" y="4057650"/>
            <a:ext cx="1428750" cy="3238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 algn="l">
              <a:defRPr sz="1575" b="1">
                <a:solidFill>
                  <a:srgbClr val="0C2019"/>
                </a:solidFill>
                <a:latin typeface="Aptos"/>
                <a:ea typeface="Aptos"/>
                <a:cs typeface="Aptos"/>
              </a:defRPr>
            </a:pPr>
            <a:r>
              <a:rPr sz="1575" b="1">
                <a:solidFill>
                  <a:srgbClr val="0C2019"/>
                </a:solidFill>
                <a:latin typeface="Aptos"/>
                <a:ea typeface="Aptos"/>
                <a:cs typeface="Aptos"/>
              </a:rPr>
              <a:t>Контроль</a:t>
            </a:r>
            <a:endParaRPr sz="1575" b="1">
              <a:solidFill>
                <a:srgbClr val="0C2019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13" name="Прямоугольник 12"/>
          <p:cNvSpPr>
            <a:spLocks noGrp="1"/>
          </p:cNvSpPr>
          <p:nvPr/>
        </p:nvSpPr>
        <p:spPr>
          <a:xfrm>
            <a:off x="6515100" y="4457700"/>
            <a:ext cx="4095750" cy="7810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 algn="l">
              <a:defRPr sz="1500" b="0">
                <a:solidFill>
                  <a:srgbClr val="799087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799087"/>
                </a:solidFill>
                <a:latin typeface="Aptos"/>
                <a:ea typeface="Aptos"/>
                <a:cs typeface="Aptos"/>
              </a:rPr>
              <a:t>лимит бюджета</a:t>
            </a:r>
            <a:endParaRPr sz="1500" b="0">
              <a:solidFill>
                <a:srgbClr val="799087"/>
              </a:solidFill>
              <a:latin typeface="Aptos"/>
              <a:ea typeface="Aptos"/>
              <a:cs typeface="Aptos"/>
            </a:endParaRPr>
          </a:p>
          <a:p>
            <a:pPr algn="l">
              <a:defRPr sz="1500" b="0">
                <a:solidFill>
                  <a:srgbClr val="799087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799087"/>
                </a:solidFill>
                <a:latin typeface="Aptos"/>
                <a:ea typeface="Aptos"/>
                <a:cs typeface="Aptos"/>
              </a:rPr>
              <a:t>одно решение на направление</a:t>
            </a:r>
            <a:endParaRPr sz="1500" b="0">
              <a:solidFill>
                <a:srgbClr val="799087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14" name="Прямоугольник 13"/>
          <p:cNvSpPr>
            <a:spLocks noGrp="1"/>
          </p:cNvSpPr>
          <p:nvPr/>
        </p:nvSpPr>
        <p:spPr>
          <a:xfrm>
            <a:off x="647700" y="5753100"/>
            <a:ext cx="10839450" cy="4572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 algn="ctr">
              <a:defRPr sz="1575" b="1">
                <a:solidFill>
                  <a:srgbClr val="D85273"/>
                </a:solidFill>
                <a:latin typeface="Aptos"/>
                <a:ea typeface="Aptos"/>
                <a:cs typeface="Aptos"/>
              </a:defRPr>
            </a:pPr>
            <a:r>
              <a:rPr sz="1575" b="1">
                <a:solidFill>
                  <a:srgbClr val="D85273"/>
                </a:solidFill>
                <a:latin typeface="Aptos"/>
                <a:ea typeface="Aptos"/>
                <a:cs typeface="Aptos"/>
              </a:rPr>
              <a:t>LLM не создаёт метрики. Он переводит структурированный расчёт в понятные риски, компромиссы и рекомендации.</a:t>
            </a:r>
            <a:endParaRPr sz="1575" b="1">
              <a:solidFill>
                <a:srgbClr val="D85273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15" name="Прямоугольник 14"/>
          <p:cNvSpPr>
            <a:spLocks noGrp="1"/>
          </p:cNvSpPr>
          <p:nvPr/>
        </p:nvSpPr>
        <p:spPr>
          <a:xfrm>
            <a:off x="628650" y="6477000"/>
            <a:ext cx="10934700" cy="9525"/>
          </a:xfrm>
          <a:prstGeom prst="rect">
            <a:avLst/>
          </a:prstGeom>
          <a:solidFill>
            <a:srgbClr val="0C2019">
              <a:alpha val="14000"/>
            </a:srgbClr>
          </a:solidFill>
          <a:ln w="0">
            <a:noFill/>
          </a:ln>
        </p:spPr>
      </p:sp>
      <p:sp>
        <p:nvSpPr>
          <p:cNvPr id="16" name="Прямоугольник 15"/>
          <p:cNvSpPr>
            <a:spLocks noGrp="1"/>
          </p:cNvSpPr>
          <p:nvPr/>
        </p:nvSpPr>
        <p:spPr>
          <a:xfrm>
            <a:off x="628650" y="6543675"/>
            <a:ext cx="2857500" cy="1905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 algn="l">
              <a:defRPr sz="1050" b="1">
                <a:solidFill>
                  <a:srgbClr val="799087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799087"/>
                </a:solidFill>
                <a:latin typeface="Aptos"/>
                <a:ea typeface="Aptos"/>
                <a:cs typeface="Aptos"/>
              </a:rPr>
              <a:t>Аким на 5 часов</a:t>
            </a:r>
            <a:endParaRPr sz="1050" b="1">
              <a:solidFill>
                <a:srgbClr val="799087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17" name="Прямоугольник 16"/>
          <p:cNvSpPr>
            <a:spLocks noGrp="1"/>
          </p:cNvSpPr>
          <p:nvPr/>
        </p:nvSpPr>
        <p:spPr>
          <a:xfrm>
            <a:off x="11010900" y="6543675"/>
            <a:ext cx="552450" cy="1905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 algn="r">
              <a:defRPr sz="1050" b="1">
                <a:solidFill>
                  <a:srgbClr val="799087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799087"/>
                </a:solidFill>
                <a:latin typeface="Aptos"/>
                <a:ea typeface="Aptos"/>
                <a:cs typeface="Aptos"/>
              </a:rPr>
              <a:t>05</a:t>
            </a:r>
            <a:endParaRPr sz="1050" b="1">
              <a:solidFill>
                <a:srgbClr val="799087"/>
              </a:solidFill>
              <a:latin typeface="Aptos"/>
              <a:ea typeface="Aptos"/>
              <a:cs typeface="Aptos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C201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18" name="Прямоугольник 17"/>
          <p:cNvSpPr>
            <a:spLocks noGrp="1"/>
          </p:cNvSpPr>
          <p:nvPr/>
        </p:nvSpPr>
        <p:spPr>
          <a:xfrm>
            <a:off x="628650" y="428625"/>
            <a:ext cx="10934700" cy="6096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 algn="l">
              <a:defRPr sz="31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31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Технологический контур готов к двум AI-провайдерам</a:t>
            </a:r>
            <a:endParaRPr sz="3150" b="1">
              <a:solidFill>
                <a:srgbClr val="FFFFFF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2" name="Прямоугольник 1"/>
          <p:cNvSpPr>
            <a:spLocks noGrp="1"/>
          </p:cNvSpPr>
          <p:nvPr/>
        </p:nvSpPr>
        <p:spPr>
          <a:xfrm>
            <a:off x="647700" y="1295400"/>
            <a:ext cx="2381250" cy="3238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 algn="l">
              <a:defRPr sz="1800" b="1">
                <a:solidFill>
                  <a:srgbClr val="D9F879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D9F879"/>
                </a:solidFill>
                <a:latin typeface="Aptos"/>
                <a:ea typeface="Aptos"/>
                <a:cs typeface="Aptos"/>
              </a:rPr>
              <a:t>Уже работает</a:t>
            </a:r>
            <a:endParaRPr sz="1800" b="1">
              <a:solidFill>
                <a:srgbClr val="D9F879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3" name="Прямоугольник 2"/>
          <p:cNvSpPr>
            <a:spLocks noGrp="1"/>
          </p:cNvSpPr>
          <p:nvPr/>
        </p:nvSpPr>
        <p:spPr>
          <a:xfrm>
            <a:off x="647700" y="1828800"/>
            <a:ext cx="4000500" cy="4191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 algn="l">
              <a:defRPr sz="232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232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React 19 + TypeScript</a:t>
            </a:r>
            <a:endParaRPr sz="2325" b="1">
              <a:solidFill>
                <a:srgbClr val="FFFFFF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4" name="Прямоугольник 3"/>
          <p:cNvSpPr>
            <a:spLocks noGrp="1"/>
          </p:cNvSpPr>
          <p:nvPr/>
        </p:nvSpPr>
        <p:spPr>
          <a:xfrm>
            <a:off x="647700" y="2362200"/>
            <a:ext cx="4476750" cy="5905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 algn="l">
              <a:defRPr sz="1725" b="0">
                <a:solidFill>
                  <a:srgbClr val="FFFFFF">
                    <a:alpha val="74000"/>
                  </a:srgbClr>
                </a:solidFill>
                <a:latin typeface="Aptos"/>
                <a:ea typeface="Aptos"/>
                <a:cs typeface="Aptos"/>
              </a:defRPr>
            </a:pPr>
            <a:r>
              <a:rPr sz="1725" b="0">
                <a:solidFill>
                  <a:srgbClr val="FFFFFF">
                    <a:alpha val="74000"/>
                  </a:srgbClr>
                </a:solidFill>
                <a:latin typeface="Aptos"/>
                <a:ea typeface="Aptos"/>
                <a:cs typeface="Aptos"/>
              </a:rPr>
              <a:t>Потоковый Markdown через POST + ReadableStream</a:t>
            </a:r>
            <a:endParaRPr sz="1725" b="0">
              <a:solidFill>
                <a:srgbClr val="FFFFFF">
                  <a:alpha val="74000"/>
                </a:srgbClr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5" name="Прямоугольник 4"/>
          <p:cNvSpPr>
            <a:spLocks noGrp="1"/>
          </p:cNvSpPr>
          <p:nvPr/>
        </p:nvSpPr>
        <p:spPr>
          <a:xfrm>
            <a:off x="647700" y="3124200"/>
            <a:ext cx="4476750" cy="5905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 algn="l">
              <a:defRPr sz="1725" b="0">
                <a:solidFill>
                  <a:srgbClr val="FFFFFF">
                    <a:alpha val="74000"/>
                  </a:srgbClr>
                </a:solidFill>
                <a:latin typeface="Aptos"/>
                <a:ea typeface="Aptos"/>
                <a:cs typeface="Aptos"/>
              </a:defRPr>
            </a:pPr>
            <a:r>
              <a:rPr sz="1725" b="0">
                <a:solidFill>
                  <a:srgbClr val="FFFFFF">
                    <a:alpha val="74000"/>
                  </a:srgbClr>
                </a:solidFill>
                <a:latin typeface="Aptos"/>
                <a:ea typeface="Aptos"/>
                <a:cs typeface="Aptos"/>
              </a:rPr>
              <a:t>Безопасный рендеринг: sanitize без raw HTML</a:t>
            </a:r>
            <a:endParaRPr sz="1725" b="0">
              <a:solidFill>
                <a:srgbClr val="FFFFFF">
                  <a:alpha val="74000"/>
                </a:srgbClr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6" name="Прямоугольник 5"/>
          <p:cNvSpPr>
            <a:spLocks noGrp="1"/>
          </p:cNvSpPr>
          <p:nvPr/>
        </p:nvSpPr>
        <p:spPr>
          <a:xfrm>
            <a:off x="647700" y="3886200"/>
            <a:ext cx="4476750" cy="6858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 algn="l">
              <a:defRPr sz="1725" b="0">
                <a:solidFill>
                  <a:srgbClr val="FFFFFF">
                    <a:alpha val="74000"/>
                  </a:srgbClr>
                </a:solidFill>
                <a:latin typeface="Aptos"/>
                <a:ea typeface="Aptos"/>
                <a:cs typeface="Aptos"/>
              </a:defRPr>
            </a:pPr>
            <a:r>
              <a:rPr sz="1725" b="0">
                <a:solidFill>
                  <a:srgbClr val="FFFFFF">
                    <a:alpha val="74000"/>
                  </a:srgbClr>
                </a:solidFill>
                <a:latin typeface="Aptos"/>
                <a:ea typeface="Aptos"/>
                <a:cs typeface="Aptos"/>
              </a:rPr>
              <a:t>Контракты провайдеров, отмена, retry и stale state</a:t>
            </a:r>
            <a:endParaRPr sz="1725" b="0">
              <a:solidFill>
                <a:srgbClr val="FFFFFF">
                  <a:alpha val="74000"/>
                </a:srgbClr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7" name="Прямоугольник 6"/>
          <p:cNvSpPr>
            <a:spLocks noGrp="1"/>
          </p:cNvSpPr>
          <p:nvPr/>
        </p:nvSpPr>
        <p:spPr>
          <a:xfrm>
            <a:off x="5829300" y="1314450"/>
            <a:ext cx="19050" cy="4248150"/>
          </a:xfrm>
          <a:prstGeom prst="rect">
            <a:avLst/>
          </a:prstGeom>
          <a:solidFill>
            <a:srgbClr val="FFFFFF">
              <a:alpha val="18000"/>
            </a:srgbClr>
          </a:solidFill>
          <a:ln w="0">
            <a:noFill/>
          </a:ln>
        </p:spPr>
      </p:sp>
      <p:sp>
        <p:nvSpPr>
          <p:cNvPr id="8" name="Прямоугольник 7"/>
          <p:cNvSpPr>
            <a:spLocks noGrp="1"/>
          </p:cNvSpPr>
          <p:nvPr/>
        </p:nvSpPr>
        <p:spPr>
          <a:xfrm>
            <a:off x="6305550" y="1295400"/>
            <a:ext cx="2857500" cy="3238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 algn="l">
              <a:defRPr sz="1800" b="1">
                <a:solidFill>
                  <a:srgbClr val="7BDCB5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7BDCB5"/>
                </a:solidFill>
                <a:latin typeface="Aptos"/>
                <a:ea typeface="Aptos"/>
                <a:cs typeface="Aptos"/>
              </a:rPr>
              <a:t>Production-контур</a:t>
            </a:r>
            <a:endParaRPr sz="1800" b="1">
              <a:solidFill>
                <a:srgbClr val="7BDCB5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9" name="Прямоугольник 8"/>
          <p:cNvSpPr>
            <a:spLocks noGrp="1"/>
          </p:cNvSpPr>
          <p:nvPr/>
        </p:nvSpPr>
        <p:spPr>
          <a:xfrm>
            <a:off x="6305550" y="1847850"/>
            <a:ext cx="1905000" cy="4191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 algn="l">
              <a:defRPr sz="25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25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OpenAI</a:t>
            </a:r>
            <a:endParaRPr sz="2550" b="1">
              <a:solidFill>
                <a:srgbClr val="FFFFFF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10" name="Прямоугольник 9"/>
          <p:cNvSpPr>
            <a:spLocks noGrp="1"/>
          </p:cNvSpPr>
          <p:nvPr/>
        </p:nvSpPr>
        <p:spPr>
          <a:xfrm>
            <a:off x="6305550" y="2324100"/>
            <a:ext cx="4686300" cy="8382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 algn="l">
              <a:defRPr sz="1725" b="0">
                <a:solidFill>
                  <a:srgbClr val="FFFFFF">
                    <a:alpha val="74000"/>
                  </a:srgbClr>
                </a:solidFill>
                <a:latin typeface="Aptos"/>
                <a:ea typeface="Aptos"/>
                <a:cs typeface="Aptos"/>
              </a:defRPr>
            </a:pPr>
            <a:r>
              <a:rPr sz="1725" b="0">
                <a:solidFill>
                  <a:srgbClr val="FFFFFF">
                    <a:alpha val="74000"/>
                  </a:srgbClr>
                </a:solidFill>
                <a:latin typeface="Aptos"/>
                <a:ea typeface="Aptos"/>
                <a:cs typeface="Aptos"/>
              </a:rPr>
              <a:t>Responses API, SSE и Structured Outputs для валидируемого анализа и deck JSON</a:t>
            </a:r>
            <a:endParaRPr sz="1725" b="0">
              <a:solidFill>
                <a:srgbClr val="FFFFFF">
                  <a:alpha val="74000"/>
                </a:srgbClr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11" name="Прямоугольник 10"/>
          <p:cNvSpPr>
            <a:spLocks noGrp="1"/>
          </p:cNvSpPr>
          <p:nvPr/>
        </p:nvSpPr>
        <p:spPr>
          <a:xfrm>
            <a:off x="6305550" y="3486150"/>
            <a:ext cx="2476500" cy="4191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 algn="l">
              <a:defRPr sz="25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25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NVIDIA NIM</a:t>
            </a:r>
            <a:endParaRPr sz="2550" b="1">
              <a:solidFill>
                <a:srgbClr val="FFFFFF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12" name="Прямоугольник 11"/>
          <p:cNvSpPr>
            <a:spLocks noGrp="1"/>
          </p:cNvSpPr>
          <p:nvPr/>
        </p:nvSpPr>
        <p:spPr>
          <a:xfrm>
            <a:off x="6305550" y="3962400"/>
            <a:ext cx="4686300" cy="9144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 algn="l">
              <a:defRPr sz="1725" b="0">
                <a:solidFill>
                  <a:srgbClr val="FFFFFF">
                    <a:alpha val="74000"/>
                  </a:srgbClr>
                </a:solidFill>
                <a:latin typeface="Aptos"/>
                <a:ea typeface="Aptos"/>
                <a:cs typeface="Aptos"/>
              </a:defRPr>
            </a:pPr>
            <a:r>
              <a:rPr sz="1725" b="0">
                <a:solidFill>
                  <a:srgbClr val="FFFFFF">
                    <a:alpha val="74000"/>
                  </a:srgbClr>
                </a:solidFill>
                <a:latin typeface="Aptos"/>
                <a:ea typeface="Aptos"/>
                <a:cs typeface="Aptos"/>
              </a:rPr>
              <a:t>OpenAI-совместимый endpoint позволяет менять модель или размещение без переписывания интерфейса</a:t>
            </a:r>
            <a:endParaRPr sz="1725" b="0">
              <a:solidFill>
                <a:srgbClr val="FFFFFF">
                  <a:alpha val="74000"/>
                </a:srgbClr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13" name="Прямоугольник 12"/>
          <p:cNvSpPr>
            <a:spLocks noGrp="1"/>
          </p:cNvSpPr>
          <p:nvPr/>
        </p:nvSpPr>
        <p:spPr>
          <a:xfrm>
            <a:off x="647700" y="5162550"/>
            <a:ext cx="10363200" cy="9525"/>
          </a:xfrm>
          <a:prstGeom prst="rect">
            <a:avLst/>
          </a:prstGeom>
          <a:solidFill>
            <a:srgbClr val="FFFFFF">
              <a:alpha val="18000"/>
            </a:srgbClr>
          </a:solidFill>
          <a:ln w="0">
            <a:noFill/>
          </a:ln>
        </p:spPr>
      </p:sp>
      <p:sp>
        <p:nvSpPr>
          <p:cNvPr id="14" name="Прямоугольник 13"/>
          <p:cNvSpPr>
            <a:spLocks noGrp="1"/>
          </p:cNvSpPr>
          <p:nvPr/>
        </p:nvSpPr>
        <p:spPr>
          <a:xfrm>
            <a:off x="647700" y="5381625"/>
            <a:ext cx="10363200" cy="5143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 algn="ctr">
              <a:defRPr sz="1575" b="1">
                <a:solidFill>
                  <a:srgbClr val="F3B35A"/>
                </a:solidFill>
                <a:latin typeface="Aptos"/>
                <a:ea typeface="Aptos"/>
                <a:cs typeface="Aptos"/>
              </a:defRPr>
            </a:pPr>
            <a:r>
              <a:rPr sz="1575" b="1">
                <a:solidFill>
                  <a:srgbClr val="F3B35A"/>
                </a:solidFill>
                <a:latin typeface="Aptos"/>
                <a:ea typeface="Aptos"/>
                <a:cs typeface="Aptos"/>
              </a:rPr>
              <a:t>Сейчас демо воспроизводится локально без ключей. Реальные ключи и расчёт остаются только на backend.</a:t>
            </a:r>
            <a:endParaRPr sz="1575" b="1">
              <a:solidFill>
                <a:srgbClr val="F3B35A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15" name="Прямоугольник 14"/>
          <p:cNvSpPr>
            <a:spLocks noGrp="1"/>
          </p:cNvSpPr>
          <p:nvPr/>
        </p:nvSpPr>
        <p:spPr>
          <a:xfrm>
            <a:off x="628650" y="6477000"/>
            <a:ext cx="10934700" cy="9525"/>
          </a:xfrm>
          <a:prstGeom prst="rect">
            <a:avLst/>
          </a:prstGeom>
          <a:solidFill>
            <a:srgbClr val="FFFFFF">
              <a:alpha val="22000"/>
            </a:srgbClr>
          </a:solidFill>
          <a:ln w="0">
            <a:noFill/>
          </a:ln>
        </p:spPr>
      </p:sp>
      <p:sp>
        <p:nvSpPr>
          <p:cNvPr id="16" name="Прямоугольник 15"/>
          <p:cNvSpPr>
            <a:spLocks noGrp="1"/>
          </p:cNvSpPr>
          <p:nvPr/>
        </p:nvSpPr>
        <p:spPr>
          <a:xfrm>
            <a:off x="628650" y="6543675"/>
            <a:ext cx="2857500" cy="1905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 algn="l">
              <a:defRPr sz="1050" b="1">
                <a:solidFill>
                  <a:srgbClr val="FFFFFF">
                    <a:alpha val="70000"/>
                  </a:srgbClr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FFFFFF">
                    <a:alpha val="70000"/>
                  </a:srgbClr>
                </a:solidFill>
                <a:latin typeface="Aptos"/>
                <a:ea typeface="Aptos"/>
                <a:cs typeface="Aptos"/>
              </a:rPr>
              <a:t>Аким на 5 часов</a:t>
            </a:r>
            <a:endParaRPr sz="1050" b="1">
              <a:solidFill>
                <a:srgbClr val="FFFFFF">
                  <a:alpha val="70000"/>
                </a:srgbClr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17" name="Прямоугольник 16"/>
          <p:cNvSpPr>
            <a:spLocks noGrp="1"/>
          </p:cNvSpPr>
          <p:nvPr/>
        </p:nvSpPr>
        <p:spPr>
          <a:xfrm>
            <a:off x="11010900" y="6543675"/>
            <a:ext cx="552450" cy="1905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 algn="r">
              <a:defRPr sz="1050" b="1">
                <a:solidFill>
                  <a:srgbClr val="FFFFFF">
                    <a:alpha val="70000"/>
                  </a:srgbClr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FFFFFF">
                    <a:alpha val="70000"/>
                  </a:srgbClr>
                </a:solidFill>
                <a:latin typeface="Aptos"/>
                <a:ea typeface="Aptos"/>
                <a:cs typeface="Aptos"/>
              </a:rPr>
              <a:t>06</a:t>
            </a:r>
            <a:endParaRPr sz="1050" b="1">
              <a:solidFill>
                <a:srgbClr val="FFFFFF">
                  <a:alpha val="70000"/>
                </a:srgbClr>
              </a:solidFill>
              <a:latin typeface="Aptos"/>
              <a:ea typeface="Aptos"/>
              <a:cs typeface="Aptos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7F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14" name="Прямоугольник 13"/>
          <p:cNvSpPr>
            <a:spLocks noGrp="1"/>
          </p:cNvSpPr>
          <p:nvPr/>
        </p:nvSpPr>
        <p:spPr>
          <a:xfrm>
            <a:off x="628650" y="428625"/>
            <a:ext cx="10934700" cy="6096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 algn="l">
              <a:defRPr sz="3150" b="1">
                <a:solidFill>
                  <a:srgbClr val="0C2019"/>
                </a:solidFill>
                <a:latin typeface="Aptos"/>
                <a:ea typeface="Aptos"/>
                <a:cs typeface="Aptos"/>
              </a:defRPr>
            </a:pPr>
            <a:r>
              <a:rPr sz="3150" b="1">
                <a:solidFill>
                  <a:srgbClr val="0C2019"/>
                </a:solidFill>
                <a:latin typeface="Aptos"/>
                <a:ea typeface="Aptos"/>
                <a:cs typeface="Aptos"/>
              </a:rPr>
              <a:t>Казахстан уже переходит к AI-управлению городом</a:t>
            </a:r>
            <a:endParaRPr sz="3150" b="1">
              <a:solidFill>
                <a:srgbClr val="0C2019"/>
              </a:solidFill>
              <a:latin typeface="Aptos"/>
              <a:ea typeface="Aptos"/>
              <a:cs typeface="Aptos"/>
            </a:endParaRPr>
          </a:p>
        </p:txBody>
      </p:sp>
      <p:pic>
        <p:nvPicPr>
          <p:cNvPr id="15" name="Изображение 14"/>
          <p:cNvPicPr>
            <a:picLocks noChangeAspect="1"/>
          </p:cNvPicPr>
          <p:nvPr/>
        </p:nvPicPr>
        <p:blipFill>
          <a:blip r:embed="rId1"/>
          <a:srcRect l="15000" r="8000"/>
          <a:stretch>
            <a:fillRect/>
          </a:stretch>
        </p:blipFill>
        <p:spPr>
          <a:xfrm>
            <a:off x="7581900" y="1257300"/>
            <a:ext cx="3981450" cy="4343400"/>
          </a:xfrm>
          <a:prstGeom prst="roundRect">
            <a:avLst>
              <a:gd name="adj" fmla="val 3828"/>
            </a:avLst>
          </a:prstGeom>
        </p:spPr>
      </p:pic>
      <p:sp>
        <p:nvSpPr>
          <p:cNvPr id="3" name="Прямоугольник 2"/>
          <p:cNvSpPr>
            <a:spLocks noGrp="1"/>
          </p:cNvSpPr>
          <p:nvPr/>
        </p:nvSpPr>
        <p:spPr>
          <a:xfrm>
            <a:off x="647700" y="1390650"/>
            <a:ext cx="2095500" cy="2857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 algn="l">
              <a:defRPr sz="1425" b="1">
                <a:solidFill>
                  <a:srgbClr val="3478F6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3478F6"/>
                </a:solidFill>
                <a:latin typeface="Aptos"/>
                <a:ea typeface="Aptos"/>
                <a:cs typeface="Aptos"/>
              </a:rPr>
              <a:t>24 апреля 2026</a:t>
            </a:r>
            <a:endParaRPr sz="1425" b="1">
              <a:solidFill>
                <a:srgbClr val="3478F6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4" name="Прямоугольник 3"/>
          <p:cNvSpPr>
            <a:spLocks noGrp="1"/>
          </p:cNvSpPr>
          <p:nvPr/>
        </p:nvSpPr>
        <p:spPr>
          <a:xfrm>
            <a:off x="647700" y="1752600"/>
            <a:ext cx="5810250" cy="4572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 algn="l">
              <a:defRPr sz="2475" b="1">
                <a:solidFill>
                  <a:srgbClr val="0C2019"/>
                </a:solidFill>
                <a:latin typeface="Aptos"/>
                <a:ea typeface="Aptos"/>
                <a:cs typeface="Aptos"/>
              </a:defRPr>
            </a:pPr>
            <a:r>
              <a:rPr sz="2475" b="1">
                <a:solidFill>
                  <a:srgbClr val="0C2019"/>
                </a:solidFill>
                <a:latin typeface="Aptos"/>
                <a:ea typeface="Aptos"/>
                <a:cs typeface="Aptos"/>
              </a:rPr>
              <a:t>Запущен Astana Smart City</a:t>
            </a:r>
            <a:endParaRPr sz="2475" b="1">
              <a:solidFill>
                <a:srgbClr val="0C2019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5" name="Прямоугольник 4"/>
          <p:cNvSpPr>
            <a:spLocks noGrp="1"/>
          </p:cNvSpPr>
          <p:nvPr/>
        </p:nvSpPr>
        <p:spPr>
          <a:xfrm>
            <a:off x="647700" y="2266950"/>
            <a:ext cx="5905500" cy="6667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 algn="l">
              <a:defRPr sz="1725" b="0">
                <a:solidFill>
                  <a:srgbClr val="799087"/>
                </a:solidFill>
                <a:latin typeface="Aptos"/>
                <a:ea typeface="Aptos"/>
                <a:cs typeface="Aptos"/>
              </a:defRPr>
            </a:pPr>
            <a:r>
              <a:rPr sz="1725" b="0">
                <a:solidFill>
                  <a:srgbClr val="799087"/>
                </a:solidFill>
                <a:latin typeface="Aptos"/>
                <a:ea typeface="Aptos"/>
                <a:cs typeface="Aptos"/>
              </a:rPr>
              <a:t>Единая AI-платформа объединяет городские данные и системы в реальном времени.</a:t>
            </a:r>
            <a:endParaRPr sz="1725" b="0">
              <a:solidFill>
                <a:srgbClr val="799087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6" name="Прямоугольник 5"/>
          <p:cNvSpPr>
            <a:spLocks noGrp="1"/>
          </p:cNvSpPr>
          <p:nvPr/>
        </p:nvSpPr>
        <p:spPr>
          <a:xfrm>
            <a:off x="647700" y="3152775"/>
            <a:ext cx="6191250" cy="9525"/>
          </a:xfrm>
          <a:prstGeom prst="rect">
            <a:avLst/>
          </a:prstGeom>
          <a:solidFill>
            <a:srgbClr val="0C2019">
              <a:alpha val="16000"/>
            </a:srgbClr>
          </a:solidFill>
          <a:ln w="0">
            <a:noFill/>
          </a:ln>
        </p:spPr>
      </p:sp>
      <p:sp>
        <p:nvSpPr>
          <p:cNvPr id="7" name="Прямоугольник 6"/>
          <p:cNvSpPr>
            <a:spLocks noGrp="1"/>
          </p:cNvSpPr>
          <p:nvPr/>
        </p:nvSpPr>
        <p:spPr>
          <a:xfrm>
            <a:off x="647700" y="3371850"/>
            <a:ext cx="2095500" cy="2857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 algn="l">
              <a:defRPr sz="1425" b="1">
                <a:solidFill>
                  <a:srgbClr val="D85273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D85273"/>
                </a:solidFill>
                <a:latin typeface="Aptos"/>
                <a:ea typeface="Aptos"/>
                <a:cs typeface="Aptos"/>
              </a:rPr>
              <a:t>9 июня 2026</a:t>
            </a:r>
            <a:endParaRPr sz="1425" b="1">
              <a:solidFill>
                <a:srgbClr val="D85273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8" name="Прямоугольник 7"/>
          <p:cNvSpPr>
            <a:spLocks noGrp="1"/>
          </p:cNvSpPr>
          <p:nvPr/>
        </p:nvSpPr>
        <p:spPr>
          <a:xfrm>
            <a:off x="647700" y="3733800"/>
            <a:ext cx="6096000" cy="8001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 algn="l">
              <a:defRPr sz="2325" b="1">
                <a:solidFill>
                  <a:srgbClr val="0C2019"/>
                </a:solidFill>
                <a:latin typeface="Aptos"/>
                <a:ea typeface="Aptos"/>
                <a:cs typeface="Aptos"/>
              </a:defRPr>
            </a:pPr>
            <a:r>
              <a:rPr sz="2325" b="1">
                <a:solidFill>
                  <a:srgbClr val="0C2019"/>
                </a:solidFill>
                <a:latin typeface="Aptos"/>
                <a:ea typeface="Aptos"/>
                <a:cs typeface="Aptos"/>
              </a:rPr>
              <a:t>Утверждена Digital Qazaqstan до 2029 года</a:t>
            </a:r>
            <a:endParaRPr sz="2325" b="1">
              <a:solidFill>
                <a:srgbClr val="0C2019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9" name="Прямоугольник 8"/>
          <p:cNvSpPr>
            <a:spLocks noGrp="1"/>
          </p:cNvSpPr>
          <p:nvPr/>
        </p:nvSpPr>
        <p:spPr>
          <a:xfrm>
            <a:off x="647700" y="4552950"/>
            <a:ext cx="6191250" cy="7429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 algn="l">
              <a:defRPr sz="1650" b="0">
                <a:solidFill>
                  <a:srgbClr val="799087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799087"/>
                </a:solidFill>
                <a:latin typeface="Aptos"/>
                <a:ea typeface="Aptos"/>
                <a:cs typeface="Aptos"/>
              </a:rPr>
              <a:t>Стратегия задаёт AI Economy Stack: инфраструктура, вычисления, данные, платформы и прикладные сервисы.</a:t>
            </a:r>
            <a:endParaRPr sz="1650" b="0">
              <a:solidFill>
                <a:srgbClr val="799087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10" name="Прямоугольник 9"/>
          <p:cNvSpPr>
            <a:spLocks noGrp="1"/>
          </p:cNvSpPr>
          <p:nvPr/>
        </p:nvSpPr>
        <p:spPr>
          <a:xfrm>
            <a:off x="647700" y="5562600"/>
            <a:ext cx="10477500" cy="4572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 algn="l">
              <a:defRPr sz="1500" b="1">
                <a:solidFill>
                  <a:srgbClr val="173027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173027"/>
                </a:solidFill>
                <a:latin typeface="Aptos"/>
                <a:ea typeface="Aptos"/>
                <a:cs typeface="Aptos"/>
              </a:rPr>
              <a:t>Также действуют Закон об ИИ и первые национальные AI-стандарты по рискам, архитектуре и защите данных.</a:t>
            </a:r>
            <a:endParaRPr sz="1500" b="1">
              <a:solidFill>
                <a:srgbClr val="173027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11" name="Прямоугольник 10"/>
          <p:cNvSpPr>
            <a:spLocks noGrp="1"/>
          </p:cNvSpPr>
          <p:nvPr/>
        </p:nvSpPr>
        <p:spPr>
          <a:xfrm>
            <a:off x="628650" y="6477000"/>
            <a:ext cx="10934700" cy="9525"/>
          </a:xfrm>
          <a:prstGeom prst="rect">
            <a:avLst/>
          </a:prstGeom>
          <a:solidFill>
            <a:srgbClr val="0C2019">
              <a:alpha val="14000"/>
            </a:srgbClr>
          </a:solidFill>
          <a:ln w="0">
            <a:noFill/>
          </a:ln>
        </p:spPr>
      </p:sp>
      <p:sp>
        <p:nvSpPr>
          <p:cNvPr id="12" name="Прямоугольник 11"/>
          <p:cNvSpPr>
            <a:spLocks noGrp="1"/>
          </p:cNvSpPr>
          <p:nvPr/>
        </p:nvSpPr>
        <p:spPr>
          <a:xfrm>
            <a:off x="628650" y="6543675"/>
            <a:ext cx="2857500" cy="1905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 algn="l">
              <a:defRPr sz="1050" b="1">
                <a:solidFill>
                  <a:srgbClr val="799087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799087"/>
                </a:solidFill>
                <a:latin typeface="Aptos"/>
                <a:ea typeface="Aptos"/>
                <a:cs typeface="Aptos"/>
              </a:rPr>
              <a:t>Аким на 5 часов</a:t>
            </a:r>
            <a:endParaRPr sz="1050" b="1">
              <a:solidFill>
                <a:srgbClr val="799087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13" name="Прямоугольник 12"/>
          <p:cNvSpPr>
            <a:spLocks noGrp="1"/>
          </p:cNvSpPr>
          <p:nvPr/>
        </p:nvSpPr>
        <p:spPr>
          <a:xfrm>
            <a:off x="11010900" y="6543675"/>
            <a:ext cx="552450" cy="1905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 algn="r">
              <a:defRPr sz="1050" b="1">
                <a:solidFill>
                  <a:srgbClr val="799087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799087"/>
                </a:solidFill>
                <a:latin typeface="Aptos"/>
                <a:ea typeface="Aptos"/>
                <a:cs typeface="Aptos"/>
              </a:rPr>
              <a:t>07</a:t>
            </a:r>
            <a:endParaRPr sz="1050" b="1">
              <a:solidFill>
                <a:srgbClr val="799087"/>
              </a:solidFill>
              <a:latin typeface="Aptos"/>
              <a:ea typeface="Aptos"/>
              <a:cs typeface="Aptos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18" name="Прямоугольник 17"/>
          <p:cNvSpPr>
            <a:spLocks noGrp="1"/>
          </p:cNvSpPr>
          <p:nvPr/>
        </p:nvSpPr>
        <p:spPr>
          <a:xfrm>
            <a:off x="628650" y="428625"/>
            <a:ext cx="10934700" cy="6096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 algn="l">
              <a:defRPr sz="3150" b="1">
                <a:solidFill>
                  <a:srgbClr val="0C2019"/>
                </a:solidFill>
                <a:latin typeface="Aptos"/>
                <a:ea typeface="Aptos"/>
                <a:cs typeface="Aptos"/>
              </a:defRPr>
            </a:pPr>
            <a:r>
              <a:rPr sz="3150" b="1">
                <a:solidFill>
                  <a:srgbClr val="0C2019"/>
                </a:solidFill>
                <a:latin typeface="Aptos"/>
                <a:ea typeface="Aptos"/>
                <a:cs typeface="Aptos"/>
              </a:rPr>
              <a:t>Продукт показывает компромисс до запуска проекта</a:t>
            </a:r>
            <a:endParaRPr sz="3150" b="1">
              <a:solidFill>
                <a:srgbClr val="0C2019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2" name="Прямоугольник 1"/>
          <p:cNvSpPr>
            <a:spLocks noGrp="1"/>
          </p:cNvSpPr>
          <p:nvPr/>
        </p:nvSpPr>
        <p:spPr>
          <a:xfrm>
            <a:off x="647700" y="1295400"/>
            <a:ext cx="10382250" cy="10668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 algn="l">
              <a:defRPr sz="2400" b="1">
                <a:solidFill>
                  <a:srgbClr val="0C2019"/>
                </a:solidFill>
                <a:latin typeface="Aptos"/>
                <a:ea typeface="Aptos"/>
                <a:cs typeface="Aptos"/>
              </a:defRPr>
            </a:pPr>
            <a:r>
              <a:rPr sz="2400" b="1">
                <a:solidFill>
                  <a:srgbClr val="0C2019"/>
                </a:solidFill>
                <a:latin typeface="Aptos"/>
                <a:ea typeface="Aptos"/>
                <a:cs typeface="Aptos"/>
              </a:rPr>
              <a:t>Большинство дашбордов отвечают на вопрос «что уже произошло». Наш симулятор отвечает на вопрос «что изменится, если выбрать этот пакет мер».</a:t>
            </a:r>
            <a:endParaRPr sz="2400" b="1">
              <a:solidFill>
                <a:srgbClr val="0C2019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3" name="Прямоугольник 2"/>
          <p:cNvSpPr>
            <a:spLocks noGrp="1"/>
          </p:cNvSpPr>
          <p:nvPr/>
        </p:nvSpPr>
        <p:spPr>
          <a:xfrm>
            <a:off x="647700" y="2781300"/>
            <a:ext cx="10858500" cy="19050"/>
          </a:xfrm>
          <a:prstGeom prst="rect">
            <a:avLst/>
          </a:prstGeom>
          <a:solidFill>
            <a:srgbClr val="7BDCB5"/>
          </a:solidFill>
          <a:ln w="0">
            <a:noFill/>
          </a:ln>
        </p:spPr>
      </p:sp>
      <p:sp>
        <p:nvSpPr>
          <p:cNvPr id="4" name="Прямоугольник 3"/>
          <p:cNvSpPr>
            <a:spLocks noGrp="1"/>
          </p:cNvSpPr>
          <p:nvPr/>
        </p:nvSpPr>
        <p:spPr>
          <a:xfrm>
            <a:off x="647700" y="3143250"/>
            <a:ext cx="628650" cy="4381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 algn="l">
              <a:defRPr sz="2700" b="1">
                <a:solidFill>
                  <a:srgbClr val="3478F6"/>
                </a:solidFill>
                <a:latin typeface="Aptos"/>
                <a:ea typeface="Aptos"/>
                <a:cs typeface="Aptos"/>
              </a:defRPr>
            </a:pPr>
            <a:r>
              <a:rPr sz="2700" b="1">
                <a:solidFill>
                  <a:srgbClr val="3478F6"/>
                </a:solidFill>
                <a:latin typeface="Aptos"/>
                <a:ea typeface="Aptos"/>
                <a:cs typeface="Aptos"/>
              </a:rPr>
              <a:t>01</a:t>
            </a:r>
            <a:endParaRPr sz="2700" b="1">
              <a:solidFill>
                <a:srgbClr val="3478F6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5" name="Прямоугольник 4"/>
          <p:cNvSpPr>
            <a:spLocks noGrp="1"/>
          </p:cNvSpPr>
          <p:nvPr/>
        </p:nvSpPr>
        <p:spPr>
          <a:xfrm>
            <a:off x="1466850" y="3200400"/>
            <a:ext cx="2571750" cy="3238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 algn="l">
              <a:defRPr sz="1875" b="1">
                <a:solidFill>
                  <a:srgbClr val="173027"/>
                </a:solidFill>
                <a:latin typeface="Aptos"/>
                <a:ea typeface="Aptos"/>
                <a:cs typeface="Aptos"/>
              </a:defRPr>
            </a:pPr>
            <a:r>
              <a:rPr sz="1875" b="1">
                <a:solidFill>
                  <a:srgbClr val="173027"/>
                </a:solidFill>
                <a:latin typeface="Aptos"/>
                <a:ea typeface="Aptos"/>
                <a:cs typeface="Aptos"/>
              </a:rPr>
              <a:t>Жёсткие правила</a:t>
            </a:r>
            <a:endParaRPr sz="1875" b="1">
              <a:solidFill>
                <a:srgbClr val="173027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6" name="Прямоугольник 5"/>
          <p:cNvSpPr>
            <a:spLocks noGrp="1"/>
          </p:cNvSpPr>
          <p:nvPr/>
        </p:nvSpPr>
        <p:spPr>
          <a:xfrm>
            <a:off x="1466850" y="3638550"/>
            <a:ext cx="2571750" cy="10096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 algn="l">
              <a:defRPr sz="1575" b="0">
                <a:solidFill>
                  <a:srgbClr val="799087"/>
                </a:solidFill>
                <a:latin typeface="Aptos"/>
                <a:ea typeface="Aptos"/>
                <a:cs typeface="Aptos"/>
              </a:defRPr>
            </a:pPr>
            <a:r>
              <a:rPr sz="1575" b="0">
                <a:solidFill>
                  <a:srgbClr val="799087"/>
                </a:solidFill>
                <a:latin typeface="Aptos"/>
                <a:ea typeface="Aptos"/>
                <a:cs typeface="Aptos"/>
              </a:rPr>
              <a:t>5 направлений, максимум 100 единиц, атомарная замена меры</a:t>
            </a:r>
            <a:endParaRPr sz="1575" b="0">
              <a:solidFill>
                <a:srgbClr val="799087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7" name="Прямоугольник 6"/>
          <p:cNvSpPr>
            <a:spLocks noGrp="1"/>
          </p:cNvSpPr>
          <p:nvPr/>
        </p:nvSpPr>
        <p:spPr>
          <a:xfrm>
            <a:off x="4438650" y="3143250"/>
            <a:ext cx="628650" cy="4381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 algn="l">
              <a:defRPr sz="2700" b="1">
                <a:solidFill>
                  <a:srgbClr val="8B5CF6"/>
                </a:solidFill>
                <a:latin typeface="Aptos"/>
                <a:ea typeface="Aptos"/>
                <a:cs typeface="Aptos"/>
              </a:defRPr>
            </a:pPr>
            <a:r>
              <a:rPr sz="2700" b="1">
                <a:solidFill>
                  <a:srgbClr val="8B5CF6"/>
                </a:solidFill>
                <a:latin typeface="Aptos"/>
                <a:ea typeface="Aptos"/>
                <a:cs typeface="Aptos"/>
              </a:rPr>
              <a:t>02</a:t>
            </a:r>
            <a:endParaRPr sz="2700" b="1">
              <a:solidFill>
                <a:srgbClr val="8B5CF6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8" name="Прямоугольник 7"/>
          <p:cNvSpPr>
            <a:spLocks noGrp="1"/>
          </p:cNvSpPr>
          <p:nvPr/>
        </p:nvSpPr>
        <p:spPr>
          <a:xfrm>
            <a:off x="5257800" y="3200400"/>
            <a:ext cx="2667000" cy="3238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 algn="l">
              <a:defRPr sz="1875" b="1">
                <a:solidFill>
                  <a:srgbClr val="173027"/>
                </a:solidFill>
                <a:latin typeface="Aptos"/>
                <a:ea typeface="Aptos"/>
                <a:cs typeface="Aptos"/>
              </a:defRPr>
            </a:pPr>
            <a:r>
              <a:rPr sz="1875" b="1">
                <a:solidFill>
                  <a:srgbClr val="173027"/>
                </a:solidFill>
                <a:latin typeface="Aptos"/>
                <a:ea typeface="Aptos"/>
                <a:cs typeface="Aptos"/>
              </a:rPr>
              <a:t>Районная честность</a:t>
            </a:r>
            <a:endParaRPr sz="1875" b="1">
              <a:solidFill>
                <a:srgbClr val="173027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9" name="Прямоугольник 8"/>
          <p:cNvSpPr>
            <a:spLocks noGrp="1"/>
          </p:cNvSpPr>
          <p:nvPr/>
        </p:nvSpPr>
        <p:spPr>
          <a:xfrm>
            <a:off x="5257800" y="3638550"/>
            <a:ext cx="2571750" cy="10096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 algn="l">
              <a:defRPr sz="1575" b="0">
                <a:solidFill>
                  <a:srgbClr val="799087"/>
                </a:solidFill>
                <a:latin typeface="Aptos"/>
                <a:ea typeface="Aptos"/>
                <a:cs typeface="Aptos"/>
              </a:defRPr>
            </a:pPr>
            <a:r>
              <a:rPr sz="1575" b="0">
                <a:solidFill>
                  <a:srgbClr val="799087"/>
                </a:solidFill>
                <a:latin typeface="Aptos"/>
                <a:ea typeface="Aptos"/>
                <a:cs typeface="Aptos"/>
              </a:rPr>
              <a:t>Одна шкала 0–100 и точные 25 дельт без визуального шума</a:t>
            </a:r>
            <a:endParaRPr sz="1575" b="0">
              <a:solidFill>
                <a:srgbClr val="799087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10" name="Прямоугольник 9"/>
          <p:cNvSpPr>
            <a:spLocks noGrp="1"/>
          </p:cNvSpPr>
          <p:nvPr/>
        </p:nvSpPr>
        <p:spPr>
          <a:xfrm>
            <a:off x="8229600" y="3143250"/>
            <a:ext cx="628650" cy="4381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 algn="l">
              <a:defRPr sz="2700" b="1">
                <a:solidFill>
                  <a:srgbClr val="D85273"/>
                </a:solidFill>
                <a:latin typeface="Aptos"/>
                <a:ea typeface="Aptos"/>
                <a:cs typeface="Aptos"/>
              </a:defRPr>
            </a:pPr>
            <a:r>
              <a:rPr sz="2700" b="1">
                <a:solidFill>
                  <a:srgbClr val="D85273"/>
                </a:solidFill>
                <a:latin typeface="Aptos"/>
                <a:ea typeface="Aptos"/>
                <a:cs typeface="Aptos"/>
              </a:rPr>
              <a:t>03</a:t>
            </a:r>
            <a:endParaRPr sz="2700" b="1">
              <a:solidFill>
                <a:srgbClr val="D85273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11" name="Прямоугольник 10"/>
          <p:cNvSpPr>
            <a:spLocks noGrp="1"/>
          </p:cNvSpPr>
          <p:nvPr/>
        </p:nvSpPr>
        <p:spPr>
          <a:xfrm>
            <a:off x="9048750" y="3200400"/>
            <a:ext cx="2381250" cy="6096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 algn="l">
              <a:defRPr sz="1875" b="1">
                <a:solidFill>
                  <a:srgbClr val="173027"/>
                </a:solidFill>
                <a:latin typeface="Aptos"/>
                <a:ea typeface="Aptos"/>
                <a:cs typeface="Aptos"/>
              </a:defRPr>
            </a:pPr>
            <a:r>
              <a:rPr sz="1875" b="1">
                <a:solidFill>
                  <a:srgbClr val="173027"/>
                </a:solidFill>
                <a:latin typeface="Aptos"/>
                <a:ea typeface="Aptos"/>
                <a:cs typeface="Aptos"/>
              </a:rPr>
              <a:t>Проверяемое объяснение</a:t>
            </a:r>
            <a:endParaRPr sz="1875" b="1">
              <a:solidFill>
                <a:srgbClr val="173027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12" name="Прямоугольник 11"/>
          <p:cNvSpPr>
            <a:spLocks noGrp="1"/>
          </p:cNvSpPr>
          <p:nvPr/>
        </p:nvSpPr>
        <p:spPr>
          <a:xfrm>
            <a:off x="9048750" y="3905250"/>
            <a:ext cx="2381250" cy="10096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 algn="l">
              <a:defRPr sz="1575" b="0">
                <a:solidFill>
                  <a:srgbClr val="799087"/>
                </a:solidFill>
                <a:latin typeface="Aptos"/>
                <a:ea typeface="Aptos"/>
                <a:cs typeface="Aptos"/>
              </a:defRPr>
            </a:pPr>
            <a:r>
              <a:rPr sz="1575" b="0">
                <a:solidFill>
                  <a:srgbClr val="799087"/>
                </a:solidFill>
                <a:latin typeface="Aptos"/>
                <a:ea typeface="Aptos"/>
                <a:cs typeface="Aptos"/>
              </a:rPr>
              <a:t>AI получает готовые метрики и объясняет риски, а не придумывает числа</a:t>
            </a:r>
            <a:endParaRPr sz="1575" b="0">
              <a:solidFill>
                <a:srgbClr val="799087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13" name="Скругленный прямоугольник 12"/>
          <p:cNvSpPr>
            <a:spLocks noGrp="1"/>
          </p:cNvSpPr>
          <p:nvPr/>
        </p:nvSpPr>
        <p:spPr>
          <a:xfrm>
            <a:off x="647700" y="5219700"/>
            <a:ext cx="10858500" cy="685800"/>
          </a:xfrm>
          <a:prstGeom prst="roundRect">
            <a:avLst>
              <a:gd name="adj" fmla="val 11111"/>
            </a:avLst>
          </a:prstGeom>
          <a:solidFill>
            <a:srgbClr val="0C2019"/>
          </a:solidFill>
          <a:ln w="0">
            <a:noFill/>
          </a:ln>
        </p:spPr>
      </p:sp>
      <p:sp>
        <p:nvSpPr>
          <p:cNvPr id="14" name="Прямоугольник 13"/>
          <p:cNvSpPr>
            <a:spLocks noGrp="1"/>
          </p:cNvSpPr>
          <p:nvPr/>
        </p:nvSpPr>
        <p:spPr>
          <a:xfrm>
            <a:off x="933450" y="5410200"/>
            <a:ext cx="10287000" cy="3238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 algn="ctr">
              <a:defRPr sz="16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Доступность встроена: клавиатура, swipe, reduced motion и ARIA-состояния</a:t>
            </a:r>
            <a:endParaRPr sz="1650" b="1">
              <a:solidFill>
                <a:srgbClr val="FFFFFF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15" name="Прямоугольник 14"/>
          <p:cNvSpPr>
            <a:spLocks noGrp="1"/>
          </p:cNvSpPr>
          <p:nvPr/>
        </p:nvSpPr>
        <p:spPr>
          <a:xfrm>
            <a:off x="628650" y="6477000"/>
            <a:ext cx="10934700" cy="9525"/>
          </a:xfrm>
          <a:prstGeom prst="rect">
            <a:avLst/>
          </a:prstGeom>
          <a:solidFill>
            <a:srgbClr val="0C2019">
              <a:alpha val="14000"/>
            </a:srgbClr>
          </a:solidFill>
          <a:ln w="0">
            <a:noFill/>
          </a:ln>
        </p:spPr>
      </p:sp>
      <p:sp>
        <p:nvSpPr>
          <p:cNvPr id="16" name="Прямоугольник 15"/>
          <p:cNvSpPr>
            <a:spLocks noGrp="1"/>
          </p:cNvSpPr>
          <p:nvPr/>
        </p:nvSpPr>
        <p:spPr>
          <a:xfrm>
            <a:off x="628650" y="6543675"/>
            <a:ext cx="2857500" cy="1905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 algn="l">
              <a:defRPr sz="1050" b="1">
                <a:solidFill>
                  <a:srgbClr val="799087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799087"/>
                </a:solidFill>
                <a:latin typeface="Aptos"/>
                <a:ea typeface="Aptos"/>
                <a:cs typeface="Aptos"/>
              </a:rPr>
              <a:t>Аким на 5 часов</a:t>
            </a:r>
            <a:endParaRPr sz="1050" b="1">
              <a:solidFill>
                <a:srgbClr val="799087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17" name="Прямоугольник 16"/>
          <p:cNvSpPr>
            <a:spLocks noGrp="1"/>
          </p:cNvSpPr>
          <p:nvPr/>
        </p:nvSpPr>
        <p:spPr>
          <a:xfrm>
            <a:off x="11010900" y="6543675"/>
            <a:ext cx="552450" cy="1905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 algn="r">
              <a:defRPr sz="1050" b="1">
                <a:solidFill>
                  <a:srgbClr val="799087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799087"/>
                </a:solidFill>
                <a:latin typeface="Aptos"/>
                <a:ea typeface="Aptos"/>
                <a:cs typeface="Aptos"/>
              </a:rPr>
              <a:t>08</a:t>
            </a:r>
            <a:endParaRPr sz="1050" b="1">
              <a:solidFill>
                <a:srgbClr val="799087"/>
              </a:solidFill>
              <a:latin typeface="Aptos"/>
              <a:ea typeface="Aptos"/>
              <a:cs typeface="Aptos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7F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7" name="Прямоугольник 26"/>
          <p:cNvSpPr>
            <a:spLocks noGrp="1"/>
          </p:cNvSpPr>
          <p:nvPr/>
        </p:nvSpPr>
        <p:spPr>
          <a:xfrm>
            <a:off x="628650" y="428625"/>
            <a:ext cx="10934700" cy="6096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 algn="l">
              <a:defRPr sz="3150" b="1">
                <a:solidFill>
                  <a:srgbClr val="0C2019"/>
                </a:solidFill>
                <a:latin typeface="Aptos"/>
                <a:ea typeface="Aptos"/>
                <a:cs typeface="Aptos"/>
              </a:defRPr>
            </a:pPr>
            <a:r>
              <a:rPr sz="3150" b="1">
                <a:solidFill>
                  <a:srgbClr val="0C2019"/>
                </a:solidFill>
                <a:latin typeface="Aptos"/>
                <a:ea typeface="Aptos"/>
                <a:cs typeface="Aptos"/>
              </a:rPr>
              <a:t>90 дней до пилота на реальных данных</a:t>
            </a:r>
            <a:endParaRPr sz="3150" b="1">
              <a:solidFill>
                <a:srgbClr val="0C2019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2" name="Прямоугольник 1"/>
          <p:cNvSpPr>
            <a:spLocks noGrp="1"/>
          </p:cNvSpPr>
          <p:nvPr/>
        </p:nvSpPr>
        <p:spPr>
          <a:xfrm>
            <a:off x="1200150" y="2714625"/>
            <a:ext cx="9763125" cy="28575"/>
          </a:xfrm>
          <a:prstGeom prst="rect">
            <a:avLst/>
          </a:prstGeom>
          <a:solidFill>
            <a:srgbClr val="0C2019">
              <a:alpha val="18000"/>
            </a:srgbClr>
          </a:solidFill>
          <a:ln w="0">
            <a:noFill/>
          </a:ln>
        </p:spPr>
      </p:sp>
      <p:sp>
        <p:nvSpPr>
          <p:cNvPr id="3" name="Скругленный прямоугольник 2"/>
          <p:cNvSpPr>
            <a:spLocks noGrp="1"/>
          </p:cNvSpPr>
          <p:nvPr/>
        </p:nvSpPr>
        <p:spPr>
          <a:xfrm>
            <a:off x="1200150" y="2533650"/>
            <a:ext cx="381000" cy="381000"/>
          </a:xfrm>
          <a:prstGeom prst="roundRect">
            <a:avLst>
              <a:gd name="adj" fmla="val 20000"/>
            </a:avLst>
          </a:prstGeom>
          <a:solidFill>
            <a:srgbClr val="0C2019"/>
          </a:solidFill>
          <a:ln w="0">
            <a:noFill/>
          </a:ln>
        </p:spPr>
      </p:sp>
      <p:sp>
        <p:nvSpPr>
          <p:cNvPr id="4" name="Скругленный прямоугольник 3"/>
          <p:cNvSpPr>
            <a:spLocks noGrp="1"/>
          </p:cNvSpPr>
          <p:nvPr/>
        </p:nvSpPr>
        <p:spPr>
          <a:xfrm>
            <a:off x="4876800" y="2533650"/>
            <a:ext cx="381000" cy="381000"/>
          </a:xfrm>
          <a:prstGeom prst="roundRect">
            <a:avLst>
              <a:gd name="adj" fmla="val 20000"/>
            </a:avLst>
          </a:prstGeom>
          <a:solidFill>
            <a:srgbClr val="0C2019"/>
          </a:solidFill>
          <a:ln w="0">
            <a:noFill/>
          </a:ln>
        </p:spPr>
      </p:sp>
      <p:sp>
        <p:nvSpPr>
          <p:cNvPr id="5" name="Скругленный прямоугольник 4"/>
          <p:cNvSpPr>
            <a:spLocks noGrp="1"/>
          </p:cNvSpPr>
          <p:nvPr/>
        </p:nvSpPr>
        <p:spPr>
          <a:xfrm>
            <a:off x="8572500" y="2533650"/>
            <a:ext cx="381000" cy="381000"/>
          </a:xfrm>
          <a:prstGeom prst="roundRect">
            <a:avLst>
              <a:gd name="adj" fmla="val 20000"/>
            </a:avLst>
          </a:prstGeom>
          <a:solidFill>
            <a:srgbClr val="0C2019"/>
          </a:solidFill>
          <a:ln w="0">
            <a:noFill/>
          </a:ln>
        </p:spPr>
      </p:sp>
      <p:sp>
        <p:nvSpPr>
          <p:cNvPr id="6" name="Прямоугольник 5"/>
          <p:cNvSpPr>
            <a:spLocks noGrp="1"/>
          </p:cNvSpPr>
          <p:nvPr/>
        </p:nvSpPr>
        <p:spPr>
          <a:xfrm>
            <a:off x="1200150" y="2609850"/>
            <a:ext cx="381000" cy="2286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 algn="ctr">
              <a:defRPr sz="13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1</a:t>
            </a:r>
            <a:endParaRPr sz="1350" b="1">
              <a:solidFill>
                <a:srgbClr val="FFFFFF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7" name="Прямоугольник 6"/>
          <p:cNvSpPr>
            <a:spLocks noGrp="1"/>
          </p:cNvSpPr>
          <p:nvPr/>
        </p:nvSpPr>
        <p:spPr>
          <a:xfrm>
            <a:off x="4876800" y="2609850"/>
            <a:ext cx="381000" cy="2286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 algn="ctr">
              <a:defRPr sz="13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2</a:t>
            </a:r>
            <a:endParaRPr sz="1350" b="1">
              <a:solidFill>
                <a:srgbClr val="FFFFFF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8" name="Прямоугольник 7"/>
          <p:cNvSpPr>
            <a:spLocks noGrp="1"/>
          </p:cNvSpPr>
          <p:nvPr/>
        </p:nvSpPr>
        <p:spPr>
          <a:xfrm>
            <a:off x="8572500" y="2609850"/>
            <a:ext cx="381000" cy="2286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 algn="ctr">
              <a:defRPr sz="13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3</a:t>
            </a:r>
            <a:endParaRPr sz="1350" b="1">
              <a:solidFill>
                <a:srgbClr val="FFFFFF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9" name="Прямоугольник 8"/>
          <p:cNvSpPr>
            <a:spLocks noGrp="1"/>
          </p:cNvSpPr>
          <p:nvPr/>
        </p:nvSpPr>
        <p:spPr>
          <a:xfrm>
            <a:off x="647700" y="1219200"/>
            <a:ext cx="2095500" cy="2857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 algn="l">
              <a:defRPr sz="1500" b="1">
                <a:solidFill>
                  <a:srgbClr val="3478F6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3478F6"/>
                </a:solidFill>
                <a:latin typeface="Aptos"/>
                <a:ea typeface="Aptos"/>
                <a:cs typeface="Aptos"/>
              </a:rPr>
              <a:t>Дни 1–30</a:t>
            </a:r>
            <a:endParaRPr sz="1500" b="1">
              <a:solidFill>
                <a:srgbClr val="3478F6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10" name="Прямоугольник 9"/>
          <p:cNvSpPr>
            <a:spLocks noGrp="1"/>
          </p:cNvSpPr>
          <p:nvPr/>
        </p:nvSpPr>
        <p:spPr>
          <a:xfrm>
            <a:off x="647700" y="1600200"/>
            <a:ext cx="3048000" cy="4381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 algn="l">
              <a:defRPr sz="2250" b="1">
                <a:solidFill>
                  <a:srgbClr val="173027"/>
                </a:solidFill>
                <a:latin typeface="Aptos"/>
                <a:ea typeface="Aptos"/>
                <a:cs typeface="Aptos"/>
              </a:defRPr>
            </a:pPr>
            <a:r>
              <a:rPr sz="2250" b="1">
                <a:solidFill>
                  <a:srgbClr val="173027"/>
                </a:solidFill>
                <a:latin typeface="Aptos"/>
                <a:ea typeface="Aptos"/>
                <a:cs typeface="Aptos"/>
              </a:rPr>
              <a:t>Подключить данные</a:t>
            </a:r>
            <a:endParaRPr sz="2250" b="1">
              <a:solidFill>
                <a:srgbClr val="173027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11" name="Прямоугольник 10"/>
          <p:cNvSpPr>
            <a:spLocks noGrp="1"/>
          </p:cNvSpPr>
          <p:nvPr/>
        </p:nvSpPr>
        <p:spPr>
          <a:xfrm>
            <a:off x="647700" y="3086100"/>
            <a:ext cx="2952750" cy="10096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 algn="l">
              <a:defRPr sz="1650" b="0">
                <a:solidFill>
                  <a:srgbClr val="799087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799087"/>
                </a:solidFill>
                <a:latin typeface="Aptos"/>
                <a:ea typeface="Aptos"/>
                <a:cs typeface="Aptos"/>
              </a:rPr>
              <a:t>Зафиксировать baseline, владельцев показателей и правила доступа</a:t>
            </a:r>
            <a:endParaRPr sz="1650" b="0">
              <a:solidFill>
                <a:srgbClr val="799087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12" name="Прямоугольник 11"/>
          <p:cNvSpPr>
            <a:spLocks noGrp="1"/>
          </p:cNvSpPr>
          <p:nvPr/>
        </p:nvSpPr>
        <p:spPr>
          <a:xfrm>
            <a:off x="4324350" y="1219200"/>
            <a:ext cx="2095500" cy="2857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 algn="l">
              <a:defRPr sz="1500" b="1">
                <a:solidFill>
                  <a:srgbClr val="8B5CF6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8B5CF6"/>
                </a:solidFill>
                <a:latin typeface="Aptos"/>
                <a:ea typeface="Aptos"/>
                <a:cs typeface="Aptos"/>
              </a:rPr>
              <a:t>Дни 31–60</a:t>
            </a:r>
            <a:endParaRPr sz="1500" b="1">
              <a:solidFill>
                <a:srgbClr val="8B5CF6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13" name="Прямоугольник 12"/>
          <p:cNvSpPr>
            <a:spLocks noGrp="1"/>
          </p:cNvSpPr>
          <p:nvPr/>
        </p:nvSpPr>
        <p:spPr>
          <a:xfrm>
            <a:off x="4324350" y="1600200"/>
            <a:ext cx="3048000" cy="4381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 algn="l">
              <a:defRPr sz="2250" b="1">
                <a:solidFill>
                  <a:srgbClr val="173027"/>
                </a:solidFill>
                <a:latin typeface="Aptos"/>
                <a:ea typeface="Aptos"/>
                <a:cs typeface="Aptos"/>
              </a:defRPr>
            </a:pPr>
            <a:r>
              <a:rPr sz="2250" b="1">
                <a:solidFill>
                  <a:srgbClr val="173027"/>
                </a:solidFill>
                <a:latin typeface="Aptos"/>
                <a:ea typeface="Aptos"/>
                <a:cs typeface="Aptos"/>
              </a:rPr>
              <a:t>Проверить модель</a:t>
            </a:r>
            <a:endParaRPr sz="2250" b="1">
              <a:solidFill>
                <a:srgbClr val="173027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14" name="Прямоугольник 13"/>
          <p:cNvSpPr>
            <a:spLocks noGrp="1"/>
          </p:cNvSpPr>
          <p:nvPr/>
        </p:nvSpPr>
        <p:spPr>
          <a:xfrm>
            <a:off x="4324350" y="3086100"/>
            <a:ext cx="2952750" cy="10096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 algn="l">
              <a:defRPr sz="1650" b="0">
                <a:solidFill>
                  <a:srgbClr val="799087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799087"/>
                </a:solidFill>
                <a:latin typeface="Aptos"/>
                <a:ea typeface="Aptos"/>
                <a:cs typeface="Aptos"/>
              </a:rPr>
              <a:t>Сверить коэффициенты с экспертами и прогнать исторические сценарии</a:t>
            </a:r>
            <a:endParaRPr sz="1650" b="0">
              <a:solidFill>
                <a:srgbClr val="799087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15" name="Прямоугольник 14"/>
          <p:cNvSpPr>
            <a:spLocks noGrp="1"/>
          </p:cNvSpPr>
          <p:nvPr/>
        </p:nvSpPr>
        <p:spPr>
          <a:xfrm>
            <a:off x="8020050" y="1219200"/>
            <a:ext cx="2095500" cy="2857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 algn="l">
              <a:defRPr sz="1500" b="1">
                <a:solidFill>
                  <a:srgbClr val="D85273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D85273"/>
                </a:solidFill>
                <a:latin typeface="Aptos"/>
                <a:ea typeface="Aptos"/>
                <a:cs typeface="Aptos"/>
              </a:rPr>
              <a:t>Дни 61–90</a:t>
            </a:r>
            <a:endParaRPr sz="1500" b="1">
              <a:solidFill>
                <a:srgbClr val="D85273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16" name="Прямоугольник 15"/>
          <p:cNvSpPr>
            <a:spLocks noGrp="1"/>
          </p:cNvSpPr>
          <p:nvPr/>
        </p:nvSpPr>
        <p:spPr>
          <a:xfrm>
            <a:off x="8020050" y="1600200"/>
            <a:ext cx="3048000" cy="4381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 algn="l">
              <a:defRPr sz="2250" b="1">
                <a:solidFill>
                  <a:srgbClr val="173027"/>
                </a:solidFill>
                <a:latin typeface="Aptos"/>
                <a:ea typeface="Aptos"/>
                <a:cs typeface="Aptos"/>
              </a:defRPr>
            </a:pPr>
            <a:r>
              <a:rPr sz="2250" b="1">
                <a:solidFill>
                  <a:srgbClr val="173027"/>
                </a:solidFill>
                <a:latin typeface="Aptos"/>
                <a:ea typeface="Aptos"/>
                <a:cs typeface="Aptos"/>
              </a:rPr>
              <a:t>Запустить контур</a:t>
            </a:r>
            <a:endParaRPr sz="2250" b="1">
              <a:solidFill>
                <a:srgbClr val="173027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17" name="Прямоугольник 16"/>
          <p:cNvSpPr>
            <a:spLocks noGrp="1"/>
          </p:cNvSpPr>
          <p:nvPr/>
        </p:nvSpPr>
        <p:spPr>
          <a:xfrm>
            <a:off x="8020050" y="3086100"/>
            <a:ext cx="3048000" cy="10096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 algn="l">
              <a:defRPr sz="1650" b="0">
                <a:solidFill>
                  <a:srgbClr val="799087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799087"/>
                </a:solidFill>
                <a:latin typeface="Aptos"/>
                <a:ea typeface="Aptos"/>
                <a:cs typeface="Aptos"/>
              </a:rPr>
              <a:t>Провести пилотный совет, аудит результатов и решение о масштабировании</a:t>
            </a:r>
            <a:endParaRPr sz="1650" b="0">
              <a:solidFill>
                <a:srgbClr val="799087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18" name="Прямоугольник 17"/>
          <p:cNvSpPr>
            <a:spLocks noGrp="1"/>
          </p:cNvSpPr>
          <p:nvPr/>
        </p:nvSpPr>
        <p:spPr>
          <a:xfrm>
            <a:off x="647700" y="4686300"/>
            <a:ext cx="10420350" cy="9525"/>
          </a:xfrm>
          <a:prstGeom prst="rect">
            <a:avLst/>
          </a:prstGeom>
          <a:solidFill>
            <a:srgbClr val="0C2019">
              <a:alpha val="15000"/>
            </a:srgbClr>
          </a:solidFill>
          <a:ln w="0">
            <a:noFill/>
          </a:ln>
        </p:spPr>
      </p:sp>
      <p:sp>
        <p:nvSpPr>
          <p:cNvPr id="19" name="Прямоугольник 18"/>
          <p:cNvSpPr>
            <a:spLocks noGrp="1"/>
          </p:cNvSpPr>
          <p:nvPr/>
        </p:nvSpPr>
        <p:spPr>
          <a:xfrm>
            <a:off x="647700" y="4953000"/>
            <a:ext cx="2190750" cy="3238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 algn="l">
              <a:defRPr sz="1650" b="1">
                <a:solidFill>
                  <a:srgbClr val="0C2019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0C2019"/>
                </a:solidFill>
                <a:latin typeface="Aptos"/>
                <a:ea typeface="Aptos"/>
                <a:cs typeface="Aptos"/>
              </a:rPr>
              <a:t>Критерии успеха</a:t>
            </a:r>
            <a:endParaRPr sz="1650" b="1">
              <a:solidFill>
                <a:srgbClr val="0C2019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20" name="Прямоугольник 19"/>
          <p:cNvSpPr>
            <a:spLocks noGrp="1"/>
          </p:cNvSpPr>
          <p:nvPr/>
        </p:nvSpPr>
        <p:spPr>
          <a:xfrm>
            <a:off x="3143250" y="4953000"/>
            <a:ext cx="2476500" cy="3238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 algn="l">
              <a:defRPr sz="1500" b="0">
                <a:solidFill>
                  <a:srgbClr val="799087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799087"/>
                </a:solidFill>
                <a:latin typeface="Aptos"/>
                <a:ea typeface="Aptos"/>
                <a:cs typeface="Aptos"/>
              </a:rPr>
              <a:t>время подготовки сценария</a:t>
            </a:r>
            <a:endParaRPr sz="1500" b="0">
              <a:solidFill>
                <a:srgbClr val="799087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21" name="Прямоугольник 20"/>
          <p:cNvSpPr>
            <a:spLocks noGrp="1"/>
          </p:cNvSpPr>
          <p:nvPr/>
        </p:nvSpPr>
        <p:spPr>
          <a:xfrm>
            <a:off x="5905500" y="4953000"/>
            <a:ext cx="2857500" cy="3238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 algn="l">
              <a:defRPr sz="1500" b="0">
                <a:solidFill>
                  <a:srgbClr val="799087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799087"/>
                </a:solidFill>
                <a:latin typeface="Aptos"/>
                <a:ea typeface="Aptos"/>
                <a:cs typeface="Aptos"/>
              </a:rPr>
              <a:t>доля решений с полным audit trail</a:t>
            </a:r>
            <a:endParaRPr sz="1500" b="0">
              <a:solidFill>
                <a:srgbClr val="799087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22" name="Прямоугольник 21"/>
          <p:cNvSpPr>
            <a:spLocks noGrp="1"/>
          </p:cNvSpPr>
          <p:nvPr/>
        </p:nvSpPr>
        <p:spPr>
          <a:xfrm>
            <a:off x="9010650" y="4953000"/>
            <a:ext cx="2095500" cy="5715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 algn="l">
              <a:defRPr sz="1500" b="0">
                <a:solidFill>
                  <a:srgbClr val="799087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799087"/>
                </a:solidFill>
                <a:latin typeface="Aptos"/>
                <a:ea typeface="Aptos"/>
                <a:cs typeface="Aptos"/>
              </a:rPr>
              <a:t>точность после калибровки</a:t>
            </a:r>
            <a:endParaRPr sz="1500" b="0">
              <a:solidFill>
                <a:srgbClr val="799087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23" name="Прямоугольник 22"/>
          <p:cNvSpPr>
            <a:spLocks noGrp="1"/>
          </p:cNvSpPr>
          <p:nvPr/>
        </p:nvSpPr>
        <p:spPr>
          <a:xfrm>
            <a:off x="647700" y="5791200"/>
            <a:ext cx="10420350" cy="4191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 algn="ctr">
              <a:defRPr sz="1500" b="1">
                <a:solidFill>
                  <a:srgbClr val="D85273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D85273"/>
                </a:solidFill>
                <a:latin typeface="Aptos"/>
                <a:ea typeface="Aptos"/>
                <a:cs typeface="Aptos"/>
              </a:rPr>
              <a:t>Безопасность: ключи на backend, журнал запусков, роли доступа, версия формулы и исходных данных.</a:t>
            </a:r>
            <a:endParaRPr sz="1500" b="1">
              <a:solidFill>
                <a:srgbClr val="D85273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24" name="Прямоугольник 23"/>
          <p:cNvSpPr>
            <a:spLocks noGrp="1"/>
          </p:cNvSpPr>
          <p:nvPr/>
        </p:nvSpPr>
        <p:spPr>
          <a:xfrm>
            <a:off x="628650" y="6477000"/>
            <a:ext cx="10934700" cy="9525"/>
          </a:xfrm>
          <a:prstGeom prst="rect">
            <a:avLst/>
          </a:prstGeom>
          <a:solidFill>
            <a:srgbClr val="0C2019">
              <a:alpha val="14000"/>
            </a:srgbClr>
          </a:solidFill>
          <a:ln w="0">
            <a:noFill/>
          </a:ln>
        </p:spPr>
      </p:sp>
      <p:sp>
        <p:nvSpPr>
          <p:cNvPr id="25" name="Прямоугольник 24"/>
          <p:cNvSpPr>
            <a:spLocks noGrp="1"/>
          </p:cNvSpPr>
          <p:nvPr/>
        </p:nvSpPr>
        <p:spPr>
          <a:xfrm>
            <a:off x="628650" y="6543675"/>
            <a:ext cx="2857500" cy="1905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 algn="l">
              <a:defRPr sz="1050" b="1">
                <a:solidFill>
                  <a:srgbClr val="799087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799087"/>
                </a:solidFill>
                <a:latin typeface="Aptos"/>
                <a:ea typeface="Aptos"/>
                <a:cs typeface="Aptos"/>
              </a:rPr>
              <a:t>Аким на 5 часов</a:t>
            </a:r>
            <a:endParaRPr sz="1050" b="1">
              <a:solidFill>
                <a:srgbClr val="799087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26" name="Прямоугольник 25"/>
          <p:cNvSpPr>
            <a:spLocks noGrp="1"/>
          </p:cNvSpPr>
          <p:nvPr/>
        </p:nvSpPr>
        <p:spPr>
          <a:xfrm>
            <a:off x="11010900" y="6543675"/>
            <a:ext cx="552450" cy="1905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 algn="r">
              <a:defRPr sz="1050" b="1">
                <a:solidFill>
                  <a:srgbClr val="799087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799087"/>
                </a:solidFill>
                <a:latin typeface="Aptos"/>
                <a:ea typeface="Aptos"/>
                <a:cs typeface="Aptos"/>
              </a:rPr>
              <a:t>09</a:t>
            </a:r>
            <a:endParaRPr sz="1050" b="1">
              <a:solidFill>
                <a:srgbClr val="799087"/>
              </a:solidFill>
              <a:latin typeface="Aptos"/>
              <a:ea typeface="Aptos"/>
              <a:cs typeface="Aptos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C2019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12" name="Изображение 11"/>
          <p:cNvPicPr>
            <a:picLocks noChangeAspect="1"/>
          </p:cNvPicPr>
          <p:nvPr/>
        </p:nvPicPr>
        <p:blipFill>
          <a:blip r:embed="rId1"/>
          <a:srcRect l="6000"/>
          <a:stretch>
            <a:fillRect/>
          </a:stretch>
        </p:blipFill>
        <p:spPr>
          <a:xfrm>
            <a:off x="7334250" y="0"/>
            <a:ext cx="4857750" cy="6858000"/>
          </a:xfrm>
          <a:prstGeom prst="rect">
            <a:avLst/>
          </a:prstGeom>
        </p:spPr>
      </p:pic>
      <p:sp>
        <p:nvSpPr>
          <p:cNvPr id="2" name="Прямоугольник 1"/>
          <p:cNvSpPr>
            <a:spLocks noGrp="1"/>
          </p:cNvSpPr>
          <p:nvPr/>
        </p:nvSpPr>
        <p:spPr>
          <a:xfrm>
            <a:off x="6381750" y="0"/>
            <a:ext cx="5810250" cy="6858000"/>
          </a:xfrm>
          <a:prstGeom prst="rect">
            <a:avLst/>
          </a:prstGeom>
          <a:gradFill>
            <a:gsLst>
              <a:gs pos="0">
                <a:srgbClr val="0C2019"/>
              </a:gs>
              <a:gs pos="42000">
                <a:srgbClr val="0C2019">
                  <a:alpha val="58000"/>
                </a:srgbClr>
              </a:gs>
              <a:gs pos="100000">
                <a:srgbClr val="0C2019">
                  <a:alpha val="10000"/>
                </a:srgbClr>
              </a:gs>
            </a:gsLst>
            <a:lin ang="5400000"/>
          </a:gradFill>
          <a:ln w="0">
            <a:noFill/>
          </a:ln>
        </p:spPr>
      </p:sp>
      <p:sp>
        <p:nvSpPr>
          <p:cNvPr id="3" name="Прямоугольник 2"/>
          <p:cNvSpPr>
            <a:spLocks noGrp="1"/>
          </p:cNvSpPr>
          <p:nvPr/>
        </p:nvSpPr>
        <p:spPr>
          <a:xfrm>
            <a:off x="647700" y="819150"/>
            <a:ext cx="2381250" cy="3048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 algn="l">
              <a:defRPr sz="1575" b="1">
                <a:solidFill>
                  <a:srgbClr val="7BDCB5"/>
                </a:solidFill>
                <a:latin typeface="Aptos"/>
                <a:ea typeface="Aptos"/>
                <a:cs typeface="Aptos"/>
              </a:defRPr>
            </a:pPr>
            <a:r>
              <a:rPr sz="1575" b="1">
                <a:solidFill>
                  <a:srgbClr val="7BDCB5"/>
                </a:solidFill>
                <a:latin typeface="Aptos"/>
                <a:ea typeface="Aptos"/>
                <a:cs typeface="Aptos"/>
              </a:rPr>
              <a:t>Следующий шаг</a:t>
            </a:r>
            <a:endParaRPr sz="1575" b="1">
              <a:solidFill>
                <a:srgbClr val="7BDCB5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4" name="Прямоугольник 3"/>
          <p:cNvSpPr>
            <a:spLocks noGrp="1"/>
          </p:cNvSpPr>
          <p:nvPr/>
        </p:nvSpPr>
        <p:spPr>
          <a:xfrm>
            <a:off x="647700" y="1428750"/>
            <a:ext cx="6572250" cy="1524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 algn="l">
              <a:defRPr sz="382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382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Дайте нам один реальный городской сценарий</a:t>
            </a:r>
            <a:endParaRPr sz="3825" b="1">
              <a:solidFill>
                <a:srgbClr val="FFFFFF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5" name="Прямоугольник 4"/>
          <p:cNvSpPr>
            <a:spLocks noGrp="1"/>
          </p:cNvSpPr>
          <p:nvPr/>
        </p:nvSpPr>
        <p:spPr>
          <a:xfrm>
            <a:off x="647700" y="3257550"/>
            <a:ext cx="5715000" cy="12192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 algn="l">
              <a:defRPr sz="2025" b="0">
                <a:solidFill>
                  <a:srgbClr val="FFFFFF">
                    <a:alpha val="78000"/>
                  </a:srgbClr>
                </a:solidFill>
                <a:latin typeface="Aptos"/>
                <a:ea typeface="Aptos"/>
                <a:cs typeface="Aptos"/>
              </a:defRPr>
            </a:pPr>
            <a:r>
              <a:rPr sz="2025" b="0">
                <a:solidFill>
                  <a:srgbClr val="FFFFFF">
                    <a:alpha val="78000"/>
                  </a:srgbClr>
                </a:solidFill>
                <a:latin typeface="Aptos"/>
                <a:ea typeface="Aptos"/>
                <a:cs typeface="Aptos"/>
              </a:rPr>
              <a:t>За 90 дней мы превратим прототип в проверяемый пилот с реальными данными, версиями формулы и audit trail.</a:t>
            </a:r>
            <a:endParaRPr sz="2025" b="0">
              <a:solidFill>
                <a:srgbClr val="FFFFFF">
                  <a:alpha val="78000"/>
                </a:srgbClr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6" name="Прямоугольник 5"/>
          <p:cNvSpPr>
            <a:spLocks noGrp="1"/>
          </p:cNvSpPr>
          <p:nvPr/>
        </p:nvSpPr>
        <p:spPr>
          <a:xfrm>
            <a:off x="647700" y="5010150"/>
            <a:ext cx="4762500" cy="19050"/>
          </a:xfrm>
          <a:prstGeom prst="rect">
            <a:avLst/>
          </a:prstGeom>
          <a:solidFill>
            <a:srgbClr val="D9F879"/>
          </a:solidFill>
          <a:ln w="0">
            <a:noFill/>
          </a:ln>
        </p:spPr>
      </p:sp>
      <p:sp>
        <p:nvSpPr>
          <p:cNvPr id="7" name="Прямоугольник 6"/>
          <p:cNvSpPr>
            <a:spLocks noGrp="1"/>
          </p:cNvSpPr>
          <p:nvPr/>
        </p:nvSpPr>
        <p:spPr>
          <a:xfrm>
            <a:off x="647700" y="5276850"/>
            <a:ext cx="4000500" cy="5143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 algn="l">
              <a:defRPr sz="2325" b="1">
                <a:solidFill>
                  <a:srgbClr val="D9F879"/>
                </a:solidFill>
                <a:latin typeface="Aptos"/>
                <a:ea typeface="Aptos"/>
                <a:cs typeface="Aptos"/>
              </a:defRPr>
            </a:pPr>
            <a:r>
              <a:rPr sz="2325" b="1">
                <a:solidFill>
                  <a:srgbClr val="D9F879"/>
                </a:solidFill>
                <a:latin typeface="Aptos"/>
                <a:ea typeface="Aptos"/>
                <a:cs typeface="Aptos"/>
              </a:rPr>
              <a:t>Аким на 5 часов</a:t>
            </a:r>
            <a:endParaRPr sz="2325" b="1">
              <a:solidFill>
                <a:srgbClr val="D9F879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8" name="Прямоугольник 7"/>
          <p:cNvSpPr>
            <a:spLocks noGrp="1"/>
          </p:cNvSpPr>
          <p:nvPr/>
        </p:nvSpPr>
        <p:spPr>
          <a:xfrm>
            <a:off x="647700" y="5886450"/>
            <a:ext cx="1905000" cy="3429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 algn="l">
              <a:defRPr sz="1575" b="0">
                <a:solidFill>
                  <a:srgbClr val="FFFFFF">
                    <a:alpha val="68000"/>
                  </a:srgbClr>
                </a:solidFill>
                <a:latin typeface="Aptos"/>
                <a:ea typeface="Aptos"/>
                <a:cs typeface="Aptos"/>
              </a:defRPr>
            </a:pPr>
            <a:r>
              <a:rPr sz="1575" b="0">
                <a:solidFill>
                  <a:srgbClr val="FFFFFF">
                    <a:alpha val="68000"/>
                  </a:srgbClr>
                </a:solidFill>
                <a:latin typeface="Aptos"/>
                <a:ea typeface="Aptos"/>
                <a:cs typeface="Aptos"/>
              </a:rPr>
              <a:t>Спасибо</a:t>
            </a:r>
            <a:endParaRPr sz="1575" b="0">
              <a:solidFill>
                <a:srgbClr val="FFFFFF">
                  <a:alpha val="68000"/>
                </a:srgbClr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9" name="Прямоугольник 8"/>
          <p:cNvSpPr>
            <a:spLocks noGrp="1"/>
          </p:cNvSpPr>
          <p:nvPr/>
        </p:nvSpPr>
        <p:spPr>
          <a:xfrm>
            <a:off x="628650" y="6477000"/>
            <a:ext cx="10934700" cy="9525"/>
          </a:xfrm>
          <a:prstGeom prst="rect">
            <a:avLst/>
          </a:prstGeom>
          <a:solidFill>
            <a:srgbClr val="FFFFFF">
              <a:alpha val="22000"/>
            </a:srgbClr>
          </a:solidFill>
          <a:ln w="0">
            <a:noFill/>
          </a:ln>
        </p:spPr>
      </p:sp>
      <p:sp>
        <p:nvSpPr>
          <p:cNvPr id="10" name="Прямоугольник 9"/>
          <p:cNvSpPr>
            <a:spLocks noGrp="1"/>
          </p:cNvSpPr>
          <p:nvPr/>
        </p:nvSpPr>
        <p:spPr>
          <a:xfrm>
            <a:off x="628650" y="6543675"/>
            <a:ext cx="2857500" cy="1905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 algn="l">
              <a:defRPr sz="1050" b="1">
                <a:solidFill>
                  <a:srgbClr val="FFFFFF">
                    <a:alpha val="70000"/>
                  </a:srgbClr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FFFFFF">
                    <a:alpha val="70000"/>
                  </a:srgbClr>
                </a:solidFill>
                <a:latin typeface="Aptos"/>
                <a:ea typeface="Aptos"/>
                <a:cs typeface="Aptos"/>
              </a:rPr>
              <a:t>Аким на 5 часов</a:t>
            </a:r>
            <a:endParaRPr sz="1050" b="1">
              <a:solidFill>
                <a:srgbClr val="FFFFFF">
                  <a:alpha val="70000"/>
                </a:srgbClr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11" name="Прямоугольник 10"/>
          <p:cNvSpPr>
            <a:spLocks noGrp="1"/>
          </p:cNvSpPr>
          <p:nvPr/>
        </p:nvSpPr>
        <p:spPr>
          <a:xfrm>
            <a:off x="11010900" y="6543675"/>
            <a:ext cx="552450" cy="1905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 algn="r">
              <a:defRPr sz="1050" b="1">
                <a:solidFill>
                  <a:srgbClr val="FFFFFF">
                    <a:alpha val="70000"/>
                  </a:srgbClr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FFFFFF">
                    <a:alpha val="70000"/>
                  </a:srgbClr>
                </a:solidFill>
                <a:latin typeface="Aptos"/>
                <a:ea typeface="Aptos"/>
                <a:cs typeface="Aptos"/>
              </a:rPr>
              <a:t>10</a:t>
            </a:r>
            <a:endParaRPr sz="1050" b="1">
              <a:solidFill>
                <a:srgbClr val="FFFFFF">
                  <a:alpha val="70000"/>
                </a:srgbClr>
              </a:solidFill>
              <a:latin typeface="Aptos"/>
              <a:ea typeface="Aptos"/>
              <a:cs typeface="Aptos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3608</Words>
  <Application>WPS Presentation</Application>
  <PresentationFormat>Converted Presentation</PresentationFormat>
  <Paragraphs>239</Paragraphs>
  <Slides>10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7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10</vt:i4>
      </vt:variant>
    </vt:vector>
  </HeadingPairs>
  <TitlesOfParts>
    <vt:vector size="18" baseType="lpstr">
      <vt:lpstr>Arial</vt:lpstr>
      <vt:lpstr>SimSun</vt:lpstr>
      <vt:lpstr>Wingdings</vt:lpstr>
      <vt:lpstr>Aptos</vt:lpstr>
      <vt:lpstr>Segoe UI</vt:lpstr>
      <vt:lpstr>Microsoft YaHei</vt:lpstr>
      <vt:lpstr>Arial Unicode MS</vt:lpstr>
      <vt:lpstr>ChatGPT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Askhat Abdimutalip</cp:lastModifiedBy>
  <cp:revision>1</cp:revision>
  <dcterms:created xsi:type="dcterms:W3CDTF">2026-09-23T12:56:26Z</dcterms:created>
  <dcterms:modified xsi:type="dcterms:W3CDTF">2026-09-23T12:56:26Z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0156A6B401B940DB92C29D1E22387965_13</vt:lpwstr>
  </property>
  <property fmtid="{D5CDD505-2E9C-101B-9397-08002B2CF9AE}" pid="3" name="KSOProductBuildVer">
    <vt:lpwstr>1049-12.1.0.28485</vt:lpwstr>
  </property>
</Properties>
</file>